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24384000" cy="13716000"/>
  <p:notesSz cx="6858000" cy="9144000"/>
  <p:embeddedFontLst>
    <p:embeddedFont>
      <p:font typeface="Pretendard Medium" panose="020B0600000101010101" charset="-127"/>
      <p:bold r:id="rId17"/>
    </p:embeddedFont>
    <p:embeddedFont>
      <p:font typeface="Pretendard Regular" panose="020B0600000101010101" charset="-127"/>
      <p:regular r:id="rId18"/>
    </p:embeddedFont>
    <p:embeddedFont>
      <p:font typeface="Mattone Regular" panose="020B0600000101010101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267" y="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3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0.png"/><Relationship Id="rId5" Type="http://schemas.openxmlformats.org/officeDocument/2006/relationships/image" Target="../media/image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8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5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35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34.png"/><Relationship Id="rId2" Type="http://schemas.openxmlformats.org/officeDocument/2006/relationships/image" Target="../media/image41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48.png"/><Relationship Id="rId5" Type="http://schemas.openxmlformats.org/officeDocument/2006/relationships/image" Target="../media/image44.png"/><Relationship Id="rId15" Type="http://schemas.openxmlformats.org/officeDocument/2006/relationships/image" Target="../media/image50.png"/><Relationship Id="rId10" Type="http://schemas.openxmlformats.org/officeDocument/2006/relationships/image" Target="../media/image47.png"/><Relationship Id="rId4" Type="http://schemas.openxmlformats.org/officeDocument/2006/relationships/image" Target="../media/image43.png"/><Relationship Id="rId9" Type="http://schemas.openxmlformats.org/officeDocument/2006/relationships/image" Target="../media/image5.png"/><Relationship Id="rId14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3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.png"/><Relationship Id="rId10" Type="http://schemas.openxmlformats.org/officeDocument/2006/relationships/image" Target="../media/image58.png"/><Relationship Id="rId4" Type="http://schemas.openxmlformats.org/officeDocument/2006/relationships/image" Target="../media/image4.png"/><Relationship Id="rId9" Type="http://schemas.openxmlformats.org/officeDocument/2006/relationships/image" Target="../media/image5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.png"/><Relationship Id="rId7" Type="http://schemas.openxmlformats.org/officeDocument/2006/relationships/image" Target="../media/image43.png"/><Relationship Id="rId12" Type="http://schemas.openxmlformats.org/officeDocument/2006/relationships/image" Target="../media/image6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48.png"/><Relationship Id="rId5" Type="http://schemas.openxmlformats.org/officeDocument/2006/relationships/image" Target="../media/image62.png"/><Relationship Id="rId10" Type="http://schemas.openxmlformats.org/officeDocument/2006/relationships/image" Target="../media/image46.png"/><Relationship Id="rId4" Type="http://schemas.openxmlformats.org/officeDocument/2006/relationships/image" Target="../media/image5.pn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4.png"/><Relationship Id="rId3" Type="http://schemas.openxmlformats.org/officeDocument/2006/relationships/image" Target="../media/image67.png"/><Relationship Id="rId7" Type="http://schemas.openxmlformats.org/officeDocument/2006/relationships/image" Target="../media/image69.png"/><Relationship Id="rId12" Type="http://schemas.openxmlformats.org/officeDocument/2006/relationships/image" Target="../media/image73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40.png"/><Relationship Id="rId5" Type="http://schemas.openxmlformats.org/officeDocument/2006/relationships/image" Target="../media/image5.png"/><Relationship Id="rId10" Type="http://schemas.openxmlformats.org/officeDocument/2006/relationships/image" Target="../media/image72.png"/><Relationship Id="rId4" Type="http://schemas.openxmlformats.org/officeDocument/2006/relationships/image" Target="../media/image4.png"/><Relationship Id="rId9" Type="http://schemas.openxmlformats.org/officeDocument/2006/relationships/image" Target="../media/image7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6.png"/><Relationship Id="rId7" Type="http://schemas.openxmlformats.org/officeDocument/2006/relationships/image" Target="../media/image78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5.png"/><Relationship Id="rId10" Type="http://schemas.openxmlformats.org/officeDocument/2006/relationships/image" Target="../media/image81.png"/><Relationship Id="rId4" Type="http://schemas.openxmlformats.org/officeDocument/2006/relationships/image" Target="../media/image4.png"/><Relationship Id="rId9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800" y="3086100"/>
            <a:ext cx="17462500" cy="63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060700" y="3911600"/>
            <a:ext cx="18313400" cy="1981200"/>
          </a:xfrm>
          <a:prstGeom prst="rect">
            <a:avLst/>
          </a:prstGeom>
        </p:spPr>
        <p:txBody>
          <a:bodyPr lIns="0" tIns="137583" rIns="0" bIns="137583" rtlCol="0" anchor="ctr"/>
          <a:lstStyle/>
          <a:p>
            <a:pPr lvl="0" algn="ctr">
              <a:lnSpc>
                <a:spcPct val="95449"/>
              </a:lnSpc>
            </a:pPr>
            <a:r>
              <a:rPr lang="en" sz="9600" b="1" i="0" u="none" strike="noStrike" spc="-433" dirty="0">
                <a:solidFill>
                  <a:srgbClr val="000000"/>
                </a:solidFill>
                <a:latin typeface="Hallym Gothic Bold"/>
              </a:rPr>
              <a:t>Re-stone sorter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54800" y="7480300"/>
            <a:ext cx="11087100" cy="825500"/>
          </a:xfrm>
          <a:prstGeom prst="rect">
            <a:avLst/>
          </a:prstGeom>
        </p:spPr>
        <p:txBody>
          <a:bodyPr lIns="0" tIns="74083" rIns="0" bIns="74083" rtlCol="0" anchor="ctr"/>
          <a:lstStyle/>
          <a:p>
            <a:pPr lvl="0" algn="ctr">
              <a:lnSpc>
                <a:spcPct val="95449"/>
              </a:lnSpc>
            </a:pPr>
            <a:r>
              <a:rPr lang="en" sz="4666" b="0" i="0" u="none" strike="noStrike" spc="-140" dirty="0">
                <a:solidFill>
                  <a:srgbClr val="000000"/>
                </a:solidFill>
                <a:latin typeface="Pretendard Medium"/>
              </a:rPr>
              <a:t>Gangwon Province Problem Solving Ideas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5900" y="25400"/>
            <a:ext cx="2578100" cy="2565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778500" y="8724900"/>
            <a:ext cx="12827000" cy="2413000"/>
          </a:xfrm>
          <a:prstGeom prst="rect">
            <a:avLst/>
          </a:prstGeom>
        </p:spPr>
        <p:txBody>
          <a:bodyPr lIns="0" tIns="80011" rIns="0" bIns="0" rtlCol="0" anchor="t"/>
          <a:lstStyle/>
          <a:p>
            <a:pPr lvl="0" algn="ctr">
              <a:lnSpc>
                <a:spcPct val="93788"/>
              </a:lnSpc>
            </a:pPr>
            <a:r>
              <a:rPr lang="en" sz="4666" b="0" i="0" u="none" strike="noStrike">
                <a:solidFill>
                  <a:srgbClr val="000000"/>
                </a:solidFill>
                <a:latin typeface="Pretendard Medium"/>
              </a:rPr>
              <a:t>Department of Energy Resources Engineering</a:t>
            </a:r>
          </a:p>
          <a:p>
            <a:pPr lvl="0" algn="ctr">
              <a:lnSpc>
                <a:spcPct val="93788"/>
              </a:lnSpc>
            </a:pPr>
            <a:r>
              <a:rPr lang="en" sz="4666" b="0" i="0" u="none" strike="noStrike">
                <a:solidFill>
                  <a:srgbClr val="000000"/>
                </a:solidFill>
                <a:latin typeface="Pretendard Medium"/>
              </a:rPr>
              <a:t>202011377</a:t>
            </a:r>
          </a:p>
          <a:p>
            <a:pPr lvl="0" algn="ctr">
              <a:lnSpc>
                <a:spcPct val="93788"/>
              </a:lnSpc>
            </a:pPr>
            <a:r>
              <a:rPr lang="en" sz="4666" b="0" i="0" u="none" strike="noStrike">
                <a:solidFill>
                  <a:srgbClr val="000000"/>
                </a:solidFill>
                <a:latin typeface="Pretendard Medium"/>
              </a:rPr>
              <a:t>JISUNG JUNG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279400"/>
            <a:ext cx="8191500" cy="1295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511300" y="457200"/>
            <a:ext cx="5803900" cy="635000"/>
          </a:xfrm>
          <a:prstGeom prst="rect">
            <a:avLst/>
          </a:prstGeom>
        </p:spPr>
        <p:txBody>
          <a:bodyPr lIns="0" tIns="61723" rIns="0" bIns="0" rtlCol="0" anchor="t"/>
          <a:lstStyle/>
          <a:p>
            <a:pPr lvl="0" algn="ctr">
              <a:lnSpc>
                <a:spcPct val="93788"/>
              </a:lnSpc>
            </a:pPr>
            <a:r>
              <a:rPr lang="en" sz="3600" b="0" i="0" u="none" strike="noStrike">
                <a:solidFill>
                  <a:srgbClr val="000000"/>
                </a:solidFill>
                <a:latin typeface="Mattone Regular"/>
              </a:rPr>
              <a:t>Re-Stone sorter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02700" y="11150600"/>
            <a:ext cx="6578600" cy="711200"/>
          </a:xfrm>
          <a:prstGeom prst="rect">
            <a:avLst/>
          </a:prstGeom>
        </p:spPr>
        <p:txBody>
          <a:bodyPr lIns="0" tIns="63500" rIns="0" bIns="63500" rtlCol="0" anchor="ctr"/>
          <a:lstStyle/>
          <a:p>
            <a:pPr lvl="0" algn="ctr">
              <a:lnSpc>
                <a:spcPct val="95449"/>
              </a:lnSpc>
            </a:pPr>
            <a:r>
              <a:rPr lang="en" sz="3999" b="0" i="0" u="none" strike="noStrike" spc="-120">
                <a:solidFill>
                  <a:srgbClr val="000000"/>
                </a:solidFill>
                <a:latin typeface="Pretendard Medium"/>
              </a:rPr>
              <a:t>Kangwon National University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6654800"/>
            <a:ext cx="17462500" cy="6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" y="279400"/>
            <a:ext cx="8191500" cy="1676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965200" y="609600"/>
            <a:ext cx="6896100" cy="838200"/>
          </a:xfrm>
          <a:prstGeom prst="rect">
            <a:avLst/>
          </a:prstGeom>
        </p:spPr>
        <p:txBody>
          <a:bodyPr lIns="0" tIns="68581" rIns="0" bIns="0" rtlCol="0" anchor="t"/>
          <a:lstStyle/>
          <a:p>
            <a:pPr lvl="0" algn="ctr">
              <a:lnSpc>
                <a:spcPct val="93788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태백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경기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침체와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인구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감소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939800"/>
            <a:ext cx="15913100" cy="50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765800" y="12903200"/>
            <a:ext cx="141605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ctr">
              <a:lnSpc>
                <a:spcPct val="95449"/>
              </a:lnSpc>
            </a:pPr>
            <a:r>
              <a:rPr lang="en-US" sz="3174" b="0" i="0" u="none" strike="noStrike" spc="-95">
                <a:solidFill>
                  <a:srgbClr val="AE3A1E"/>
                </a:solidFill>
                <a:latin typeface="Pretendard Medium"/>
              </a:rPr>
              <a:t>"</a:t>
            </a:r>
            <a:r>
              <a:rPr lang="ko-KR" sz="3174" b="0" i="0" u="none" strike="noStrike" spc="-95">
                <a:solidFill>
                  <a:srgbClr val="AE3A1E"/>
                </a:solidFill>
                <a:ea typeface="Pretendard Medium"/>
              </a:rPr>
              <a:t>폐광</a:t>
            </a:r>
            <a:r>
              <a:rPr lang="en-US" sz="3174" b="0" i="0" u="none" strike="noStrike" spc="-95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AE3A1E"/>
                </a:solidFill>
                <a:ea typeface="Pretendard Medium"/>
              </a:rPr>
              <a:t>지역의</a:t>
            </a:r>
            <a:r>
              <a:rPr lang="en-US" sz="3174" b="0" i="0" u="none" strike="noStrike" spc="-95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AE3A1E"/>
                </a:solidFill>
                <a:ea typeface="Pretendard Medium"/>
              </a:rPr>
              <a:t>침체와</a:t>
            </a:r>
            <a:r>
              <a:rPr lang="en-US" sz="3174" b="0" i="0" u="none" strike="noStrike" spc="-95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AE3A1E"/>
                </a:solidFill>
                <a:ea typeface="Pretendard Medium"/>
              </a:rPr>
              <a:t>방치된</a:t>
            </a:r>
            <a:r>
              <a:rPr lang="en-US" sz="3174" b="0" i="0" u="none" strike="noStrike" spc="-95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AE3A1E"/>
                </a:solidFill>
                <a:ea typeface="Pretendard Medium"/>
              </a:rPr>
              <a:t>경석은</a:t>
            </a:r>
            <a:r>
              <a:rPr lang="en-US" sz="3174" b="0" i="0" u="none" strike="noStrike" spc="-95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AE3A1E"/>
                </a:solidFill>
                <a:ea typeface="Pretendard Medium"/>
              </a:rPr>
              <a:t>단순한</a:t>
            </a:r>
            <a:r>
              <a:rPr lang="en-US" sz="3174" b="0" i="0" u="none" strike="noStrike" spc="-95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AE3A1E"/>
                </a:solidFill>
                <a:ea typeface="Pretendard Medium"/>
              </a:rPr>
              <a:t>환경</a:t>
            </a:r>
            <a:r>
              <a:rPr lang="en-US" sz="3174" b="0" i="0" u="none" strike="noStrike" spc="-95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AE3A1E"/>
                </a:solidFill>
                <a:ea typeface="Pretendard Medium"/>
              </a:rPr>
              <a:t>오염을</a:t>
            </a:r>
            <a:r>
              <a:rPr lang="en-US" sz="3174" b="0" i="0" u="none" strike="noStrike" spc="-95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AE3A1E"/>
                </a:solidFill>
                <a:ea typeface="Pretendard Medium"/>
              </a:rPr>
              <a:t>넘어</a:t>
            </a:r>
            <a:r>
              <a:rPr lang="en-US" sz="3174" b="0" i="0" u="none" strike="noStrike" spc="-95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AE3A1E"/>
                </a:solidFill>
                <a:ea typeface="Pretendard Medium"/>
              </a:rPr>
              <a:t>지역</a:t>
            </a:r>
            <a:r>
              <a:rPr lang="en-US" sz="3174" b="0" i="0" u="none" strike="noStrike" spc="-95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AE3A1E"/>
                </a:solidFill>
                <a:ea typeface="Pretendard Medium"/>
              </a:rPr>
              <a:t>소멸의</a:t>
            </a:r>
            <a:r>
              <a:rPr lang="en-US" sz="3174" b="0" i="0" u="none" strike="noStrike" spc="-95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AE3A1E"/>
                </a:solidFill>
                <a:ea typeface="Pretendard Medium"/>
              </a:rPr>
              <a:t>위기입니다</a:t>
            </a:r>
            <a:r>
              <a:rPr lang="en-US" sz="3174" b="0" i="0" u="none" strike="noStrike" spc="-95">
                <a:solidFill>
                  <a:srgbClr val="AE3A1E"/>
                </a:solidFill>
                <a:latin typeface="Pretendard Medium"/>
              </a:rPr>
              <a:t>."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6400" y="2044700"/>
            <a:ext cx="10160000" cy="1447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6400" y="3759200"/>
            <a:ext cx="10160000" cy="496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62000" y="9105900"/>
            <a:ext cx="11315700" cy="24130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태백시는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지역의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마지막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가행탄광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(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광물을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캐고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있는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탄광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)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인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장성광업소가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문을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닫으면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지역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침체가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가속할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것으로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우려하고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있다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lvl="0" algn="l">
              <a:lnSpc>
                <a:spcPct val="95449"/>
              </a:lnSpc>
            </a:pPr>
            <a:endParaRPr lang="en-US" sz="3174" b="0" i="0" u="none" strike="noStrike" spc="-95">
              <a:solidFill>
                <a:srgbClr val="000000"/>
              </a:solidFill>
              <a:latin typeface="Pretendard Medium"/>
            </a:endParaRPr>
          </a:p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강원도가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실시한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‘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탄광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지역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폐광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대응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연구용역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’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결과에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따르면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장성광업소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폐광에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따른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highlight>
                  <a:srgbClr val="FECCBE"/>
                </a:highlight>
                <a:ea typeface="Pretendard Medium"/>
              </a:rPr>
              <a:t>지역사회</a:t>
            </a:r>
            <a:r>
              <a:rPr lang="en-US" sz="3174" b="0" i="0" u="none" strike="noStrike" spc="-95">
                <a:solidFill>
                  <a:srgbClr val="000000"/>
                </a:solidFill>
                <a:highlight>
                  <a:srgbClr val="FECCBE"/>
                </a:highlight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highlight>
                  <a:srgbClr val="FECCBE"/>
                </a:highlight>
                <a:ea typeface="Pretendard Medium"/>
              </a:rPr>
              <a:t>피해</a:t>
            </a:r>
            <a:r>
              <a:rPr lang="en-US" sz="3174" b="0" i="0" u="none" strike="noStrike" spc="-95">
                <a:solidFill>
                  <a:srgbClr val="000000"/>
                </a:solidFill>
                <a:highlight>
                  <a:srgbClr val="FECCBE"/>
                </a:highlight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highlight>
                  <a:srgbClr val="FECCBE"/>
                </a:highlight>
                <a:ea typeface="Pretendard Medium"/>
              </a:rPr>
              <a:t>규모는</a:t>
            </a:r>
            <a:r>
              <a:rPr lang="en-US" sz="3174" b="0" i="0" u="none" strike="noStrike" spc="-95">
                <a:solidFill>
                  <a:srgbClr val="000000"/>
                </a:solidFill>
                <a:highlight>
                  <a:srgbClr val="FECCBE"/>
                </a:highlight>
                <a:latin typeface="Pretendard Medium"/>
              </a:rPr>
              <a:t> 3</a:t>
            </a:r>
            <a:r>
              <a:rPr lang="ko-KR" sz="3174" b="0" i="0" u="none" strike="noStrike" spc="-95">
                <a:solidFill>
                  <a:srgbClr val="000000"/>
                </a:solidFill>
                <a:highlight>
                  <a:srgbClr val="FECCBE"/>
                </a:highlight>
                <a:ea typeface="Pretendard Medium"/>
              </a:rPr>
              <a:t>조</a:t>
            </a:r>
            <a:r>
              <a:rPr lang="en-US" sz="3174" b="0" i="0" u="none" strike="noStrike" spc="-95">
                <a:solidFill>
                  <a:srgbClr val="000000"/>
                </a:solidFill>
                <a:highlight>
                  <a:srgbClr val="FECCBE"/>
                </a:highlight>
                <a:latin typeface="Pretendard Medium"/>
              </a:rPr>
              <a:t>3000</a:t>
            </a:r>
            <a:r>
              <a:rPr lang="ko-KR" sz="3174" b="0" i="0" u="none" strike="noStrike" spc="-95">
                <a:solidFill>
                  <a:srgbClr val="000000"/>
                </a:solidFill>
                <a:highlight>
                  <a:srgbClr val="FECCBE"/>
                </a:highlight>
                <a:ea typeface="Pretendard Medium"/>
              </a:rPr>
              <a:t>억원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에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달할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것으로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예측됐다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06400" y="9055100"/>
            <a:ext cx="10274300" cy="28829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ea typeface="Pretendard Medium"/>
              </a:rPr>
              <a:t>국내</a:t>
            </a:r>
            <a:r>
              <a:rPr lang="en-US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ea typeface="Pretendard Medium"/>
              </a:rPr>
              <a:t>대표적인</a:t>
            </a:r>
            <a:r>
              <a:rPr lang="en-US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ea typeface="Pretendard Medium"/>
              </a:rPr>
              <a:t>인구소멸</a:t>
            </a:r>
            <a:r>
              <a:rPr lang="en-US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ea typeface="Pretendard Medium"/>
              </a:rPr>
              <a:t>위기</a:t>
            </a:r>
            <a:r>
              <a:rPr lang="en-US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ea typeface="Pretendard Medium"/>
              </a:rPr>
              <a:t>도시인</a:t>
            </a:r>
            <a:r>
              <a:rPr lang="en-US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ea typeface="Pretendard Medium"/>
              </a:rPr>
              <a:t>강원</a:t>
            </a:r>
            <a:r>
              <a:rPr lang="en-US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ea typeface="Pretendard Medium"/>
              </a:rPr>
              <a:t>태백시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
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행정안전부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주민등록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통계에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따르면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2025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년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10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월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말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기준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태백시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인구는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3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만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7305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명으로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2022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년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7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월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1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일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민선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8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기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출범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당시의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4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만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85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명보다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2780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명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줄어든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수치로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매월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평균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69.5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명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,</a:t>
            </a:r>
          </a:p>
          <a:p>
            <a:pPr lvl="0" algn="l">
              <a:lnSpc>
                <a:spcPct val="95449"/>
              </a:lnSpc>
            </a:pPr>
            <a:r>
              <a:rPr lang="ko-KR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ea typeface="Pretendard Medium"/>
              </a:rPr>
              <a:t>연간</a:t>
            </a:r>
            <a:r>
              <a:rPr lang="en-US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latin typeface="Pretendard Medium"/>
              </a:rPr>
              <a:t> 834</a:t>
            </a:r>
            <a:r>
              <a:rPr lang="ko-KR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ea typeface="Pretendard Medium"/>
              </a:rPr>
              <a:t>명꼴로</a:t>
            </a:r>
            <a:r>
              <a:rPr lang="en-US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ea typeface="Pretendard Medium"/>
              </a:rPr>
              <a:t>인구가</a:t>
            </a:r>
            <a:r>
              <a:rPr lang="en-US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ea typeface="Pretendard Medium"/>
              </a:rPr>
              <a:t>줄어</a:t>
            </a:r>
            <a:r>
              <a:rPr lang="en-US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ea typeface="Pretendard Medium"/>
              </a:rPr>
              <a:t>들었다</a:t>
            </a:r>
            <a:r>
              <a:rPr lang="en-US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latin typeface="Pretendard Medium"/>
              </a:rPr>
              <a:t>.</a:t>
            </a:r>
            <a:br>
              <a:rPr lang="en-US" sz="3174" b="0" i="0" u="none" strike="noStrike" spc="-95" dirty="0">
                <a:solidFill>
                  <a:srgbClr val="000000"/>
                </a:solidFill>
                <a:highlight>
                  <a:srgbClr val="FECCBE"/>
                </a:highlight>
                <a:latin typeface="Pretendard Medium"/>
              </a:rPr>
            </a:br>
            <a:endParaRPr lang="en-US" sz="3174" b="0" i="0" u="none" strike="noStrike" spc="-95" dirty="0">
              <a:solidFill>
                <a:srgbClr val="000000"/>
              </a:solidFill>
              <a:highlight>
                <a:srgbClr val="FECCBE"/>
              </a:highlight>
              <a:latin typeface="Pretendard Mediu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759200"/>
            <a:ext cx="11201400" cy="4965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044700"/>
            <a:ext cx="11201400" cy="1447800"/>
          </a:xfrm>
          <a:prstGeom prst="rect">
            <a:avLst/>
          </a:prstGeom>
        </p:spPr>
      </p:pic>
      <p:sp>
        <p:nvSpPr>
          <p:cNvPr id="12" name="TextBox 22">
            <a:extLst>
              <a:ext uri="{FF2B5EF4-FFF2-40B4-BE49-F238E27FC236}">
                <a16:creationId xmlns:a16="http://schemas.microsoft.com/office/drawing/2014/main" id="{D9FFE56F-A255-145D-47A5-5092B6396066}"/>
              </a:ext>
            </a:extLst>
          </p:cNvPr>
          <p:cNvSpPr txBox="1"/>
          <p:nvPr/>
        </p:nvSpPr>
        <p:spPr>
          <a:xfrm>
            <a:off x="23774400" y="13106315"/>
            <a:ext cx="50074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600">
              <a:defRPr/>
            </a:pPr>
            <a:r>
              <a:rPr lang="en-US" altLang="ko-KR" sz="2700" dirty="0">
                <a:solidFill>
                  <a:prstClr val="black"/>
                </a:solidFill>
                <a:latin typeface="Aptos" panose="02110004020202020204"/>
                <a:ea typeface="맑은 고딕" panose="020B0503020000020004" pitchFamily="34" charset="-127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03200"/>
            <a:ext cx="3898900" cy="81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279400"/>
            <a:ext cx="8191500" cy="1676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939800"/>
            <a:ext cx="15913100" cy="50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699000" y="2489200"/>
            <a:ext cx="4102100" cy="736600"/>
          </a:xfrm>
          <a:prstGeom prst="rect">
            <a:avLst/>
          </a:prstGeom>
        </p:spPr>
        <p:txBody>
          <a:bodyPr lIns="0" tIns="65210" rIns="0" bIns="65210" rtlCol="0" anchor="ctr"/>
          <a:lstStyle/>
          <a:p>
            <a:pPr lvl="0" algn="l">
              <a:lnSpc>
                <a:spcPct val="95449"/>
              </a:lnSpc>
            </a:pPr>
            <a:r>
              <a:rPr lang="ko-KR" sz="4107" b="1" i="0" u="none" strike="noStrike" spc="-123">
                <a:solidFill>
                  <a:srgbClr val="000000"/>
                </a:solidFill>
                <a:ea typeface="Pretendard Medium"/>
              </a:rPr>
              <a:t>산성배수</a:t>
            </a:r>
            <a:r>
              <a:rPr lang="en-US" sz="4107" b="1" i="0" u="none" strike="noStrike" spc="-123">
                <a:solidFill>
                  <a:srgbClr val="000000"/>
                </a:solidFill>
                <a:latin typeface="Pretendard Medium"/>
              </a:rPr>
              <a:t> AMD </a:t>
            </a:r>
            <a:r>
              <a:rPr lang="ko-KR" sz="4107" b="1" i="0" u="none" strike="noStrike" spc="-123">
                <a:solidFill>
                  <a:srgbClr val="000000"/>
                </a:solidFill>
                <a:ea typeface="Pretendard Medium"/>
              </a:rPr>
              <a:t>발생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759200"/>
            <a:ext cx="11201400" cy="4965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06400" y="3759200"/>
            <a:ext cx="10160000" cy="496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65200" y="609600"/>
            <a:ext cx="6896100" cy="838200"/>
          </a:xfrm>
          <a:prstGeom prst="rect">
            <a:avLst/>
          </a:prstGeom>
        </p:spPr>
        <p:txBody>
          <a:bodyPr lIns="0" tIns="68581" rIns="0" bIns="0" rtlCol="0" anchor="t"/>
          <a:lstStyle/>
          <a:p>
            <a:pPr lvl="0" algn="ctr">
              <a:lnSpc>
                <a:spcPct val="93788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산성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광산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배수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&amp;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비산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먼지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7500" y="13017500"/>
            <a:ext cx="4025900" cy="482600"/>
          </a:xfrm>
          <a:prstGeom prst="rect">
            <a:avLst/>
          </a:prstGeom>
        </p:spPr>
        <p:txBody>
          <a:bodyPr lIns="0" tIns="37693" rIns="0" bIns="37693" rtlCol="0" anchor="ctr"/>
          <a:lstStyle/>
          <a:p>
            <a:pPr lvl="0" algn="l">
              <a:lnSpc>
                <a:spcPct val="95449"/>
              </a:lnSpc>
            </a:pPr>
            <a:r>
              <a:rPr lang="en" sz="2374" b="0" i="0" u="none" strike="noStrike" spc="-71" dirty="0">
                <a:solidFill>
                  <a:srgbClr val="000000"/>
                </a:solidFill>
                <a:latin typeface="Pretendard Medium"/>
              </a:rPr>
              <a:t>AMD: Acid Mine Drainage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306800" y="2489200"/>
            <a:ext cx="3759200" cy="736600"/>
          </a:xfrm>
          <a:prstGeom prst="rect">
            <a:avLst/>
          </a:prstGeom>
        </p:spPr>
        <p:txBody>
          <a:bodyPr lIns="0" tIns="65210" rIns="0" bIns="65210" rtlCol="0" anchor="ctr"/>
          <a:lstStyle/>
          <a:p>
            <a:pPr lvl="0" algn="ctr">
              <a:lnSpc>
                <a:spcPct val="95449"/>
              </a:lnSpc>
            </a:pPr>
            <a:r>
              <a:rPr lang="ko-KR" sz="4107" b="1" i="0" u="none" strike="noStrike" spc="-123">
                <a:solidFill>
                  <a:srgbClr val="000000"/>
                </a:solidFill>
                <a:ea typeface="Pretendard Medium"/>
              </a:rPr>
              <a:t>비산</a:t>
            </a:r>
            <a:r>
              <a:rPr lang="en-US" sz="4107" b="1" i="0" u="none" strike="noStrike" spc="-12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107" b="1" i="0" u="none" strike="noStrike" spc="-123">
                <a:solidFill>
                  <a:srgbClr val="000000"/>
                </a:solidFill>
                <a:ea typeface="Pretendard Medium"/>
              </a:rPr>
              <a:t>먼지</a:t>
            </a:r>
            <a:r>
              <a:rPr lang="en-US" sz="4107" b="1" i="0" u="none" strike="noStrike" spc="-12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107" b="1" i="0" u="none" strike="noStrike" spc="-123">
                <a:solidFill>
                  <a:srgbClr val="000000"/>
                </a:solidFill>
                <a:ea typeface="Pretendard Medium"/>
              </a:rPr>
              <a:t>발생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2000" y="8966200"/>
            <a:ext cx="11341100" cy="38100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경석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내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 err="1">
                <a:solidFill>
                  <a:srgbClr val="000000"/>
                </a:solidFill>
                <a:ea typeface="Pretendard Medium"/>
              </a:rPr>
              <a:t>황철석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성분이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물과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산소를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만나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강한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황산을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끊임없이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 err="1">
                <a:solidFill>
                  <a:srgbClr val="000000"/>
                </a:solidFill>
                <a:ea typeface="Pretendard Medium"/>
              </a:rPr>
              <a:t>생산해냄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lvl="0" algn="l">
              <a:lnSpc>
                <a:spcPct val="95449"/>
              </a:lnSpc>
            </a:pP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-&gt;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이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산성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용액은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암석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내부에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안정적으로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고착화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 err="1">
                <a:solidFill>
                  <a:srgbClr val="000000"/>
                </a:solidFill>
                <a:ea typeface="Pretendard Medium"/>
              </a:rPr>
              <a:t>되있던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비소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카드뮴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납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등의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1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급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발암물질을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이온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상태로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 err="1">
                <a:solidFill>
                  <a:srgbClr val="000000"/>
                </a:solidFill>
                <a:ea typeface="Pretendard Medium"/>
              </a:rPr>
              <a:t>녹여냄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lvl="0" algn="l">
              <a:lnSpc>
                <a:spcPct val="95449"/>
              </a:lnSpc>
            </a:pP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적화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현상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: </a:t>
            </a:r>
            <a:r>
              <a:rPr lang="ko-KR" sz="3174" b="0" i="0" u="none" strike="noStrike" spc="-95" dirty="0" err="1">
                <a:solidFill>
                  <a:srgbClr val="AE3A1E"/>
                </a:solidFill>
                <a:ea typeface="Pretendard Medium"/>
              </a:rPr>
              <a:t>용철된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철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성분이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수산화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철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침전물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형성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, </a:t>
            </a: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하천의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용존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산소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고갈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.</a:t>
            </a:r>
          </a:p>
          <a:p>
            <a:pPr lvl="0" algn="l">
              <a:lnSpc>
                <a:spcPct val="95449"/>
              </a:lnSpc>
            </a:pPr>
            <a:endParaRPr lang="en-US" sz="3174" b="0" i="0" u="none" strike="noStrike" spc="-95" dirty="0">
              <a:solidFill>
                <a:srgbClr val="AE3A1E"/>
              </a:solidFill>
              <a:latin typeface="Pretendard Medium"/>
            </a:endParaRPr>
          </a:p>
          <a:p>
            <a:pPr lvl="0" algn="l">
              <a:lnSpc>
                <a:spcPct val="95449"/>
              </a:lnSpc>
            </a:pP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환경부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조사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(2011)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결과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강원도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폐석탄광산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40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개소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중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30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개소</a:t>
            </a:r>
            <a:r>
              <a:rPr lang="en-US" sz="3174" b="0" i="0" u="none" strike="noStrike" spc="-95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000000"/>
                </a:solidFill>
                <a:ea typeface="Pretendard Medium"/>
              </a:rPr>
              <a:t>오염</a:t>
            </a:r>
          </a:p>
          <a:p>
            <a:pPr lvl="0" algn="l">
              <a:lnSpc>
                <a:spcPct val="95449"/>
              </a:lnSpc>
            </a:pPr>
            <a:endParaRPr lang="ko-KR" sz="3174" b="0" i="0" u="none" strike="noStrike" spc="-95" dirty="0">
              <a:solidFill>
                <a:srgbClr val="000000"/>
              </a:solidFill>
              <a:ea typeface="Pretendard Medium"/>
            </a:endParaRPr>
          </a:p>
          <a:p>
            <a:pPr lvl="0" algn="l">
              <a:lnSpc>
                <a:spcPct val="95449"/>
              </a:lnSpc>
            </a:pP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매년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수천억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원의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국세가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투입되는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막대한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정화</a:t>
            </a:r>
            <a:r>
              <a:rPr lang="en-US" sz="3174" b="0" i="0" u="none" strike="noStrike" spc="-95" dirty="0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 dirty="0">
                <a:solidFill>
                  <a:srgbClr val="AE3A1E"/>
                </a:solidFill>
                <a:ea typeface="Pretendard Medium"/>
              </a:rPr>
              <a:t>비용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06400" y="9156700"/>
            <a:ext cx="10274300" cy="33401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건조기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(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/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가을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)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에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강한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바람이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불면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야적된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경석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표면의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미세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입자가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비산먼지가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되어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대기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중으로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확산됨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lvl="0" algn="l">
              <a:lnSpc>
                <a:spcPct val="95449"/>
              </a:lnSpc>
            </a:pPr>
            <a:endParaRPr lang="en-US" sz="3174" b="0" i="0" u="none" strike="noStrike" spc="-95">
              <a:solidFill>
                <a:srgbClr val="000000"/>
              </a:solidFill>
              <a:latin typeface="Pretendard Medium"/>
            </a:endParaRPr>
          </a:p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일반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흙먼지가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아닌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미연소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탄소와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중금속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입자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포함된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유독성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먼지</a:t>
            </a:r>
          </a:p>
          <a:p>
            <a:pPr lvl="0" algn="l">
              <a:lnSpc>
                <a:spcPct val="95449"/>
              </a:lnSpc>
            </a:pPr>
            <a:endParaRPr lang="ko-KR" sz="3174" b="0" i="0" u="none" strike="noStrike" spc="-95">
              <a:solidFill>
                <a:srgbClr val="000000"/>
              </a:solidFill>
              <a:ea typeface="Pretendard Medium"/>
            </a:endParaRPr>
          </a:p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AE3A1E"/>
                </a:solidFill>
                <a:ea typeface="Pretendard Medium"/>
              </a:rPr>
              <a:t>호흡기</a:t>
            </a:r>
            <a:r>
              <a:rPr lang="en-US" sz="3174" b="0" i="0" u="none" strike="noStrike" spc="-95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AE3A1E"/>
                </a:solidFill>
                <a:ea typeface="Pretendard Medium"/>
              </a:rPr>
              <a:t>질환</a:t>
            </a:r>
            <a:r>
              <a:rPr lang="en-US" sz="3174" b="0" i="0" u="none" strike="noStrike" spc="-95">
                <a:solidFill>
                  <a:srgbClr val="AE3A1E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AE3A1E"/>
                </a:solidFill>
                <a:ea typeface="Pretendard Medium"/>
              </a:rPr>
              <a:t>유발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: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인근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주민들의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폐와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기관지로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흡입되어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진폐증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유사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증상이나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만성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호흡기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질환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알레르기를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유발하는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직접적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원인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id="13" name="TextBox 22">
            <a:extLst>
              <a:ext uri="{FF2B5EF4-FFF2-40B4-BE49-F238E27FC236}">
                <a16:creationId xmlns:a16="http://schemas.microsoft.com/office/drawing/2014/main" id="{29AD7877-9E42-4618-BAEE-F151B1625E12}"/>
              </a:ext>
            </a:extLst>
          </p:cNvPr>
          <p:cNvSpPr txBox="1"/>
          <p:nvPr/>
        </p:nvSpPr>
        <p:spPr>
          <a:xfrm>
            <a:off x="23774400" y="13106315"/>
            <a:ext cx="50074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600">
              <a:defRPr/>
            </a:pPr>
            <a:r>
              <a:rPr lang="en-US" altLang="ko-KR" sz="2700" dirty="0">
                <a:solidFill>
                  <a:prstClr val="black"/>
                </a:solidFill>
                <a:latin typeface="Aptos" panose="02110004020202020204"/>
                <a:ea typeface="맑은 고딕" panose="020B0503020000020004" pitchFamily="34" charset="-127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5600" y="8915400"/>
            <a:ext cx="3657600" cy="838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5600" y="5918200"/>
            <a:ext cx="3657600" cy="838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000" y="2514600"/>
            <a:ext cx="3276600" cy="838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100" y="9982200"/>
            <a:ext cx="2590800" cy="838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700" y="6146800"/>
            <a:ext cx="2590800" cy="838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100" y="2514600"/>
            <a:ext cx="2590800" cy="83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279400"/>
            <a:ext cx="8191500" cy="1676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400" y="939800"/>
            <a:ext cx="15913100" cy="50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2133600"/>
            <a:ext cx="11430000" cy="1447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3810000"/>
            <a:ext cx="11430000" cy="4965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6134100" y="9017000"/>
            <a:ext cx="11925300" cy="33401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삼척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태백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주변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경석장들엔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선탄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‧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굴진경석이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섞여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있다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중앙경석장엔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196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만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5000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톤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도계경석장엔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213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만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3000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톤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삼덕경석장엔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261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만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3000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톤이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각각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적치되어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있는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것으로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조사됐다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lvl="0" algn="l">
              <a:lnSpc>
                <a:spcPct val="95449"/>
              </a:lnSpc>
            </a:pPr>
            <a:endParaRPr lang="en-US" sz="3174" b="0" i="0" u="none" strike="noStrike" spc="-95">
              <a:solidFill>
                <a:srgbClr val="000000"/>
              </a:solidFill>
              <a:latin typeface="Pretendard Medium"/>
            </a:endParaRPr>
          </a:p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강원테크노파크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원료산업지원센터가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자체분석한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결과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,</a:t>
            </a:r>
          </a:p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경석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규제개선으로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인한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경제적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편익은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모두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3383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억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원으로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추산됐다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원료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‧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골재판매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직접편익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1545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억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원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+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개발행위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재개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등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간접편익은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1838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억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800" y="609600"/>
            <a:ext cx="6896100" cy="838200"/>
          </a:xfrm>
          <a:prstGeom prst="rect">
            <a:avLst/>
          </a:prstGeom>
        </p:spPr>
        <p:txBody>
          <a:bodyPr lIns="0" tIns="68581" rIns="0" bIns="0" rtlCol="0" anchor="t"/>
          <a:lstStyle/>
          <a:p>
            <a:pPr lvl="0" algn="ctr">
              <a:lnSpc>
                <a:spcPct val="93788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산성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광산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배수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&amp;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비산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먼지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9100" y="7099300"/>
            <a:ext cx="2590800" cy="2590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9100" y="3403600"/>
            <a:ext cx="2590800" cy="2590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405600" y="9829800"/>
            <a:ext cx="3657600" cy="3657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189700" y="6858000"/>
            <a:ext cx="3860800" cy="1943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507200" y="3606800"/>
            <a:ext cx="3225800" cy="1968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89100" y="10934700"/>
            <a:ext cx="2590800" cy="22352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854200" y="2603500"/>
            <a:ext cx="23622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소성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벽돌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원료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16100" y="6223000"/>
            <a:ext cx="24384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인공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경량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골재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17700" y="10058400"/>
            <a:ext cx="23368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글라스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세라믹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634200" y="2603500"/>
            <a:ext cx="31115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시멘트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클링커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원료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570700" y="5994400"/>
            <a:ext cx="34417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콘크리트용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굵은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골재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634200" y="9029700"/>
            <a:ext cx="34417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제올라이트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합성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소재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698500" y="6426200"/>
            <a:ext cx="9194800" cy="20574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6200000">
            <a:off x="13855700" y="6489700"/>
            <a:ext cx="9194800" cy="1968500"/>
          </a:xfrm>
          <a:prstGeom prst="rect">
            <a:avLst/>
          </a:prstGeom>
        </p:spPr>
      </p:pic>
      <p:sp>
        <p:nvSpPr>
          <p:cNvPr id="28" name="TextBox 22">
            <a:extLst>
              <a:ext uri="{FF2B5EF4-FFF2-40B4-BE49-F238E27FC236}">
                <a16:creationId xmlns:a16="http://schemas.microsoft.com/office/drawing/2014/main" id="{ED57CBBB-BC42-F832-9B2A-661E7BE666AB}"/>
              </a:ext>
            </a:extLst>
          </p:cNvPr>
          <p:cNvSpPr txBox="1"/>
          <p:nvPr/>
        </p:nvSpPr>
        <p:spPr>
          <a:xfrm>
            <a:off x="23774400" y="13106315"/>
            <a:ext cx="50074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600">
              <a:defRPr/>
            </a:pPr>
            <a:r>
              <a:rPr lang="en-US" altLang="ko-KR" sz="2700" dirty="0">
                <a:solidFill>
                  <a:prstClr val="black"/>
                </a:solidFill>
                <a:latin typeface="Aptos" panose="02110004020202020204"/>
                <a:ea typeface="맑은 고딕" panose="020B0503020000020004" pitchFamily="34" charset="-127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7100" y="8255000"/>
            <a:ext cx="7035800" cy="1130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8255000"/>
            <a:ext cx="8585200" cy="1130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800" y="1892300"/>
            <a:ext cx="9817100" cy="1130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279400"/>
            <a:ext cx="8191500" cy="1676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400" y="939800"/>
            <a:ext cx="15913100" cy="50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607300" y="2146300"/>
            <a:ext cx="9296400" cy="635000"/>
          </a:xfrm>
          <a:prstGeom prst="rect">
            <a:avLst/>
          </a:prstGeom>
        </p:spPr>
        <p:txBody>
          <a:bodyPr lIns="0" tIns="56743" rIns="0" bIns="56743" rtlCol="0" anchor="ctr"/>
          <a:lstStyle/>
          <a:p>
            <a:pPr lvl="0" algn="l">
              <a:lnSpc>
                <a:spcPct val="95449"/>
              </a:lnSpc>
            </a:pP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왜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육안으로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안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보이는가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? (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표면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피복과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시각적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동질화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5200" y="609600"/>
            <a:ext cx="6896100" cy="1066800"/>
          </a:xfrm>
          <a:prstGeom prst="rect">
            <a:avLst/>
          </a:prstGeom>
        </p:spPr>
        <p:txBody>
          <a:bodyPr lIns="0" tIns="68581" rIns="0" bIns="0" rtlCol="0" anchor="t"/>
          <a:lstStyle/>
          <a:p>
            <a:pPr lvl="0" algn="ctr">
              <a:lnSpc>
                <a:spcPct val="93788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아이디어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발굴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계기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71700" y="8496300"/>
            <a:ext cx="8128000" cy="635000"/>
          </a:xfrm>
          <a:prstGeom prst="rect">
            <a:avLst/>
          </a:prstGeom>
        </p:spPr>
        <p:txBody>
          <a:bodyPr lIns="0" tIns="56743" rIns="0" bIns="56743" rtlCol="0" anchor="ctr"/>
          <a:lstStyle/>
          <a:p>
            <a:pPr lvl="0" algn="l">
              <a:lnSpc>
                <a:spcPct val="95449"/>
              </a:lnSpc>
            </a:pP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'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폐기물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' 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탈출을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위한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환경적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기준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 (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환경부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법령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63800" y="8496300"/>
            <a:ext cx="6680200" cy="635000"/>
          </a:xfrm>
          <a:prstGeom prst="rect">
            <a:avLst/>
          </a:prstGeom>
        </p:spPr>
        <p:txBody>
          <a:bodyPr lIns="0" tIns="56743" rIns="0" bIns="56743" rtlCol="0" anchor="ctr"/>
          <a:lstStyle/>
          <a:p>
            <a:pPr lvl="0" algn="l">
              <a:lnSpc>
                <a:spcPct val="95449"/>
              </a:lnSpc>
            </a:pP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'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자원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' 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진입을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위한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품질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기준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 (KS </a:t>
            </a:r>
            <a:r>
              <a:rPr lang="ko-KR" sz="3574" b="0" i="0" u="none" strike="noStrike" spc="-107">
                <a:solidFill>
                  <a:srgbClr val="000000"/>
                </a:solidFill>
                <a:ea typeface="Pretendard Medium"/>
              </a:rPr>
              <a:t>표준</a:t>
            </a:r>
            <a:r>
              <a:rPr lang="en-US" sz="3574" b="0" i="0" u="none" strike="noStrike" spc="-107">
                <a:solidFill>
                  <a:srgbClr val="000000"/>
                </a:solidFill>
                <a:latin typeface="Pretendard Medium"/>
              </a:rPr>
              <a:t>)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0" y="3276600"/>
            <a:ext cx="8153400" cy="4546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1633200" y="4102100"/>
            <a:ext cx="11049000" cy="28829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A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급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(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자원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)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과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C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급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(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오염원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)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이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무작위로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섞여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있음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(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혼합물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상태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).</a:t>
            </a:r>
          </a:p>
          <a:p>
            <a:pPr lvl="0" algn="l">
              <a:lnSpc>
                <a:spcPct val="95449"/>
              </a:lnSpc>
            </a:pPr>
            <a:endParaRPr lang="en-US" sz="3174" b="0" i="0" u="none" strike="noStrike" spc="-95">
              <a:solidFill>
                <a:srgbClr val="000000"/>
              </a:solidFill>
              <a:latin typeface="Pretendard Medium"/>
            </a:endParaRPr>
          </a:p>
          <a:p>
            <a:pPr lvl="0" algn="l">
              <a:lnSpc>
                <a:spcPct val="95449"/>
              </a:lnSpc>
            </a:pP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XRF(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성분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분석기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):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정확하지만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돌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하나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찍는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데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수십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초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소요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+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고가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장비</a:t>
            </a:r>
          </a:p>
          <a:p>
            <a:pPr lvl="0" algn="l">
              <a:lnSpc>
                <a:spcPct val="95449"/>
              </a:lnSpc>
            </a:pP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-&gt; 1,900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만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톤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전수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조사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불가능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(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비경제적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).</a:t>
            </a:r>
          </a:p>
          <a:p>
            <a:pPr lvl="0" algn="l">
              <a:lnSpc>
                <a:spcPct val="95449"/>
              </a:lnSpc>
            </a:pPr>
            <a:endParaRPr lang="en-US" sz="3174" b="0" i="0" u="none" strike="noStrike" spc="-95">
              <a:solidFill>
                <a:srgbClr val="000000"/>
              </a:solidFill>
              <a:latin typeface="Pretendard Medium"/>
            </a:endParaRPr>
          </a:p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육안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선별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: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사람이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일일이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골라내려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했으나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오분류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속출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28800" y="10198100"/>
            <a:ext cx="10236200" cy="14859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중금속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용출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: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비소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카드뮴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납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등이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기준치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이하일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것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.
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산성도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(pH):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산성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배수를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발생시키지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않을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것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(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황철석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제거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필수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).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06400" y="10198100"/>
            <a:ext cx="10744200" cy="14859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미분말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/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이물질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: 1.0%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이하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(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콘크리트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강도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저하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원인인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탄소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/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석탄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제거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).
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입형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(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모양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):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실적률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55%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이상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(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납작한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편평석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제거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).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31500" y="3860800"/>
            <a:ext cx="901700" cy="901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31500" y="4826000"/>
            <a:ext cx="901700" cy="901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31500" y="6159500"/>
            <a:ext cx="901700" cy="901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9893300"/>
            <a:ext cx="901700" cy="901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10947400"/>
            <a:ext cx="901700" cy="901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92000" y="9893300"/>
            <a:ext cx="901700" cy="901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700" y="10947400"/>
            <a:ext cx="901700" cy="9017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D05AF775-CB9E-3FCF-3F03-F894FFD9097D}"/>
              </a:ext>
            </a:extLst>
          </p:cNvPr>
          <p:cNvSpPr txBox="1"/>
          <p:nvPr/>
        </p:nvSpPr>
        <p:spPr>
          <a:xfrm>
            <a:off x="23774400" y="13106315"/>
            <a:ext cx="50074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600">
              <a:defRPr/>
            </a:pPr>
            <a:r>
              <a:rPr lang="en-US" altLang="ko-KR" sz="2700" dirty="0">
                <a:solidFill>
                  <a:prstClr val="black"/>
                </a:solidFill>
                <a:latin typeface="Aptos" panose="02110004020202020204"/>
                <a:ea typeface="맑은 고딕" panose="020B0503020000020004" pitchFamily="34" charset="-127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" y="279400"/>
            <a:ext cx="8191500" cy="1676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939800"/>
            <a:ext cx="15913100" cy="5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65200" y="609600"/>
            <a:ext cx="6896100" cy="1066800"/>
          </a:xfrm>
          <a:prstGeom prst="rect">
            <a:avLst/>
          </a:prstGeom>
        </p:spPr>
        <p:txBody>
          <a:bodyPr lIns="0" tIns="68581" rIns="0" bIns="0" rtlCol="0" anchor="t"/>
          <a:lstStyle/>
          <a:p>
            <a:pPr lvl="0" algn="ctr">
              <a:lnSpc>
                <a:spcPct val="93788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아이디어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발굴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계기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4699000"/>
            <a:ext cx="7861300" cy="514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0500" y="3060700"/>
            <a:ext cx="2273300" cy="2273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5280807">
            <a:off x="6413500" y="5816600"/>
            <a:ext cx="2273300" cy="2273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285512">
            <a:off x="15798800" y="5321300"/>
            <a:ext cx="2273300" cy="2273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68500" y="2120900"/>
            <a:ext cx="3187700" cy="1778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1300" y="4660900"/>
            <a:ext cx="3733800" cy="1778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54700" y="6502400"/>
            <a:ext cx="2971800" cy="1778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60700" y="1143000"/>
            <a:ext cx="12827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6014700" y="1257300"/>
            <a:ext cx="9398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en" sz="3174" b="1" i="0" u="none" strike="noStrike" spc="-95">
                <a:solidFill>
                  <a:srgbClr val="000000"/>
                </a:solidFill>
                <a:ea typeface="Pretendard Medium"/>
              </a:rPr>
              <a:t>석영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834100" y="5397500"/>
            <a:ext cx="2298700" cy="787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9100800" y="5499100"/>
            <a:ext cx="19431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미연소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탄소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8900" y="3416300"/>
            <a:ext cx="1498600" cy="787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4152900" y="3530600"/>
            <a:ext cx="12319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en" sz="3174" b="1" i="0" u="none" strike="noStrike" spc="-95">
                <a:solidFill>
                  <a:srgbClr val="000000"/>
                </a:solidFill>
                <a:ea typeface="Pretendard Medium"/>
              </a:rPr>
              <a:t>황철석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893800" y="3898900"/>
            <a:ext cx="774700" cy="774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4478000" y="4140200"/>
            <a:ext cx="4648200" cy="495300"/>
          </a:xfrm>
          <a:prstGeom prst="rect">
            <a:avLst/>
          </a:prstGeom>
        </p:spPr>
        <p:txBody>
          <a:bodyPr lIns="0" tIns="44043" rIns="0" bIns="44043" rtlCol="0" anchor="ctr"/>
          <a:lstStyle/>
          <a:p>
            <a:pPr lvl="0" algn="l">
              <a:lnSpc>
                <a:spcPct val="95449"/>
              </a:lnSpc>
            </a:pP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자원화하여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활용해야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할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가치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광물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767300" y="8851900"/>
            <a:ext cx="774700" cy="7747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8351500" y="9105900"/>
            <a:ext cx="3911600" cy="495300"/>
          </a:xfrm>
          <a:prstGeom prst="rect">
            <a:avLst/>
          </a:prstGeom>
        </p:spPr>
        <p:txBody>
          <a:bodyPr lIns="0" tIns="44043" rIns="0" bIns="44043" rtlCol="0" anchor="ctr"/>
          <a:lstStyle/>
          <a:p>
            <a:pPr lvl="0" algn="l">
              <a:lnSpc>
                <a:spcPct val="95449"/>
              </a:lnSpc>
            </a:pP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콘크리트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강도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저하의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주범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2500" y="7010400"/>
            <a:ext cx="774700" cy="7747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2806700" y="7264400"/>
            <a:ext cx="3911600" cy="495300"/>
          </a:xfrm>
          <a:prstGeom prst="rect">
            <a:avLst/>
          </a:prstGeom>
        </p:spPr>
        <p:txBody>
          <a:bodyPr lIns="0" tIns="44043" rIns="0" bIns="44043" rtlCol="0" anchor="ctr"/>
          <a:lstStyle/>
          <a:p>
            <a:pPr lvl="0" algn="l">
              <a:lnSpc>
                <a:spcPct val="95449"/>
              </a:lnSpc>
            </a:pP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산성광산배수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(AMD)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의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원인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46300" y="10655300"/>
            <a:ext cx="21348700" cy="24130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태백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지역에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방치된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1,900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만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톤의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폐경석에서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환경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오염원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(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황철석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)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과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품질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저하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요인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(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탄소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)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정밀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제거하여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3,300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억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원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규모의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자원으로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전환</a:t>
            </a:r>
          </a:p>
          <a:p>
            <a:pPr lvl="0" algn="l">
              <a:lnSpc>
                <a:spcPct val="95449"/>
              </a:lnSpc>
            </a:pPr>
            <a:endParaRPr lang="ko-KR" sz="3174" b="0" i="0" u="none" strike="noStrike" spc="-95">
              <a:solidFill>
                <a:srgbClr val="000000"/>
              </a:solidFill>
              <a:ea typeface="Pretendard Medium"/>
            </a:endParaRPr>
          </a:p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물리적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형상을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분석하는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OpenCV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화학적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성분을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탐지하는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YOLOv8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딥러닝을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결합한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알고리즘으로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KS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표준과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환경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규제를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충족</a:t>
            </a:r>
          </a:p>
          <a:p>
            <a:pPr lvl="0" algn="l">
              <a:lnSpc>
                <a:spcPct val="95449"/>
              </a:lnSpc>
            </a:pPr>
            <a:endParaRPr lang="ko-KR" sz="3174" b="0" i="0" u="none" strike="noStrike" spc="-95">
              <a:solidFill>
                <a:srgbClr val="000000"/>
              </a:solidFill>
              <a:ea typeface="Pretendard Medium"/>
            </a:endParaRPr>
          </a:p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산성배수와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비산먼지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등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환경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재난을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원천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차단하고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스마트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마이닝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신산업을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육성하여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폐광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지역의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경제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활성화와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소멸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위기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극복에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기여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84300" y="10452100"/>
            <a:ext cx="774700" cy="774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84300" y="11404600"/>
            <a:ext cx="774700" cy="774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84300" y="12306300"/>
            <a:ext cx="774700" cy="774700"/>
          </a:xfrm>
          <a:prstGeom prst="rect">
            <a:avLst/>
          </a:prstGeom>
        </p:spPr>
      </p:pic>
      <p:sp>
        <p:nvSpPr>
          <p:cNvPr id="28" name="TextBox 22">
            <a:extLst>
              <a:ext uri="{FF2B5EF4-FFF2-40B4-BE49-F238E27FC236}">
                <a16:creationId xmlns:a16="http://schemas.microsoft.com/office/drawing/2014/main" id="{90A99EE9-FE43-2A78-5D8A-B4050859A5F1}"/>
              </a:ext>
            </a:extLst>
          </p:cNvPr>
          <p:cNvSpPr txBox="1"/>
          <p:nvPr/>
        </p:nvSpPr>
        <p:spPr>
          <a:xfrm>
            <a:off x="23774400" y="13106315"/>
            <a:ext cx="50074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600">
              <a:defRPr/>
            </a:pPr>
            <a:r>
              <a:rPr lang="en-US" altLang="ko-KR" sz="2700" dirty="0">
                <a:solidFill>
                  <a:prstClr val="black"/>
                </a:solidFill>
                <a:latin typeface="Aptos" panose="02110004020202020204"/>
                <a:ea typeface="맑은 고딕" panose="020B0503020000020004" pitchFamily="34" charset="-127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7099300"/>
            <a:ext cx="10731500" cy="335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0700" y="1562100"/>
            <a:ext cx="5334000" cy="787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6300" y="10325100"/>
            <a:ext cx="6832600" cy="1257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1300" y="8267700"/>
            <a:ext cx="5905500" cy="1257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0300" y="6299200"/>
            <a:ext cx="3733800" cy="1257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1300" y="4356100"/>
            <a:ext cx="5562600" cy="1257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1300" y="2489200"/>
            <a:ext cx="5562600" cy="1257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500" y="279400"/>
            <a:ext cx="8191500" cy="167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4400" y="939800"/>
            <a:ext cx="15913100" cy="5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5036800" y="10795000"/>
            <a:ext cx="9182100" cy="1955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[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시스템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최종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판정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결과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로그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]
1.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형상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분석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(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물리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) : Good (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비율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1 : 1.00)
2.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성분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분석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(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화학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) : C_Grade_Pyrite (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확신도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93.64%)
3.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최종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처리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명령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  : ⛔ [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위험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]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황철석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(Pyrite)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오염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5200" y="609600"/>
            <a:ext cx="6896100" cy="1066800"/>
          </a:xfrm>
          <a:prstGeom prst="rect">
            <a:avLst/>
          </a:prstGeom>
        </p:spPr>
        <p:txBody>
          <a:bodyPr lIns="0" tIns="68581" rIns="0" bIns="0" rtlCol="0" anchor="t"/>
          <a:lstStyle/>
          <a:p>
            <a:pPr lvl="0" algn="ctr">
              <a:lnSpc>
                <a:spcPct val="93788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암석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성분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로직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91900" y="10464800"/>
            <a:ext cx="3479800" cy="2616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5168900" y="3314700"/>
            <a:ext cx="723900" cy="10922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263900" y="2667000"/>
            <a:ext cx="53721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단일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암석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고해상도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이미지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입력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78200" y="4559300"/>
            <a:ext cx="44196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OpenCV :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형상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(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입형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)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분석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13200" y="6502400"/>
            <a:ext cx="31369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장축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/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단축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비율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계산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971800" y="8496300"/>
            <a:ext cx="56261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ctr">
              <a:lnSpc>
                <a:spcPct val="95449"/>
              </a:lnSpc>
            </a:pP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MobileNetV2 :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화학적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성분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분석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76500" y="10541000"/>
            <a:ext cx="64516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Data Augmentation (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조명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/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노이즈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대응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)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5168900" y="5295900"/>
            <a:ext cx="723900" cy="1092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5168900" y="7239000"/>
            <a:ext cx="723900" cy="1092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5168900" y="9194800"/>
            <a:ext cx="723900" cy="10922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3657600" y="11620500"/>
            <a:ext cx="38481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1" i="0" u="none" strike="noStrike" spc="-95">
                <a:solidFill>
                  <a:srgbClr val="FD6F22"/>
                </a:solidFill>
                <a:ea typeface="Pretendard Medium"/>
              </a:rPr>
              <a:t>시각화</a:t>
            </a:r>
            <a:r>
              <a:rPr lang="en-US" sz="3174" b="1" i="0" u="none" strike="noStrike" spc="-95">
                <a:solidFill>
                  <a:srgbClr val="FD6F22"/>
                </a:solidFill>
                <a:latin typeface="Pretendard Medium"/>
              </a:rPr>
              <a:t> &amp; </a:t>
            </a:r>
            <a:r>
              <a:rPr lang="ko-KR" sz="3174" b="1" i="0" u="none" strike="noStrike" spc="-95">
                <a:solidFill>
                  <a:srgbClr val="FD6F22"/>
                </a:solidFill>
                <a:ea typeface="Pretendard Medium"/>
              </a:rPr>
              <a:t>최종</a:t>
            </a:r>
            <a:r>
              <a:rPr lang="en-US" sz="3174" b="1" i="0" u="none" strike="noStrike" spc="-95">
                <a:solidFill>
                  <a:srgbClr val="FD6F22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FD6F22"/>
                </a:solidFill>
                <a:ea typeface="Pretendard Medium"/>
              </a:rPr>
              <a:t>등급</a:t>
            </a:r>
            <a:r>
              <a:rPr lang="en-US" sz="3174" b="1" i="0" u="none" strike="noStrike" spc="-95">
                <a:solidFill>
                  <a:srgbClr val="FD6F22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FD6F22"/>
                </a:solidFill>
                <a:ea typeface="Pretendard Medium"/>
              </a:rPr>
              <a:t>판정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1500" y="12611100"/>
            <a:ext cx="3263900" cy="469900"/>
          </a:xfrm>
          <a:prstGeom prst="rect">
            <a:avLst/>
          </a:prstGeom>
        </p:spPr>
        <p:txBody>
          <a:bodyPr lIns="0" tIns="41927" rIns="0" bIns="41927" rtlCol="0" anchor="ctr"/>
          <a:lstStyle/>
          <a:p>
            <a:pPr lvl="0" algn="l">
              <a:lnSpc>
                <a:spcPct val="95449"/>
              </a:lnSpc>
            </a:pPr>
            <a:r>
              <a:rPr lang="en-US" sz="2641" b="0" i="0" u="none" strike="noStrike" spc="-79">
                <a:solidFill>
                  <a:srgbClr val="000000"/>
                </a:solidFill>
                <a:latin typeface="Pretendard Medium"/>
              </a:rPr>
              <a:t>Class 1: Quartz (</a:t>
            </a:r>
            <a:r>
              <a:rPr lang="ko-KR" sz="2641" b="0" i="0" u="none" strike="noStrike" spc="-79">
                <a:solidFill>
                  <a:srgbClr val="000000"/>
                </a:solidFill>
                <a:ea typeface="Pretendard Medium"/>
              </a:rPr>
              <a:t>석영</a:t>
            </a:r>
            <a:r>
              <a:rPr lang="en-US" sz="2641" b="0" i="0" u="none" strike="noStrike" spc="-79">
                <a:solidFill>
                  <a:srgbClr val="000000"/>
                </a:solidFill>
                <a:latin typeface="Pretendard Medium"/>
              </a:rPr>
              <a:t>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987800" y="12611100"/>
            <a:ext cx="3111500" cy="469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657" b="1" i="0" u="none" strike="noStrike">
                <a:solidFill>
                  <a:srgbClr val="000000"/>
                </a:solidFill>
                <a:latin typeface="Pretendard Regular"/>
              </a:rPr>
              <a:t>Class 2: Coal (</a:t>
            </a:r>
            <a:r>
              <a:rPr lang="ko-KR" sz="2657" b="1" i="0" u="none" strike="noStrike">
                <a:solidFill>
                  <a:srgbClr val="000000"/>
                </a:solidFill>
                <a:ea typeface="Pretendard Regular"/>
              </a:rPr>
              <a:t>탄소</a:t>
            </a:r>
            <a:r>
              <a:rPr lang="en-US" sz="2657" b="1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89800" y="12611100"/>
            <a:ext cx="3670300" cy="469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657" b="1" i="0" u="none" strike="noStrike">
                <a:solidFill>
                  <a:srgbClr val="000000"/>
                </a:solidFill>
                <a:latin typeface="Pretendard Regular"/>
              </a:rPr>
              <a:t>Class 3: Pyrite (</a:t>
            </a:r>
            <a:r>
              <a:rPr lang="ko-KR" sz="2657" b="1" i="0" u="none" strike="noStrike">
                <a:solidFill>
                  <a:srgbClr val="000000"/>
                </a:solidFill>
                <a:ea typeface="Pretendard Regular"/>
              </a:rPr>
              <a:t>황철석</a:t>
            </a:r>
            <a:r>
              <a:rPr lang="en-US" sz="2657" b="1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192000" y="2730500"/>
            <a:ext cx="3187700" cy="17780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671800" y="2730500"/>
            <a:ext cx="3733800" cy="17780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824700" y="2730500"/>
            <a:ext cx="2971800" cy="17780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4757400" y="1663700"/>
            <a:ext cx="49403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석영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vs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황철석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vs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미연소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탄소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023600" y="6007100"/>
            <a:ext cx="13119100" cy="495300"/>
          </a:xfrm>
          <a:prstGeom prst="rect">
            <a:avLst/>
          </a:prstGeom>
        </p:spPr>
        <p:txBody>
          <a:bodyPr lIns="0" tIns="44043" rIns="0" bIns="44043" rtlCol="0" anchor="ctr"/>
          <a:lstStyle/>
          <a:p>
            <a:pPr lvl="0" algn="l">
              <a:lnSpc>
                <a:spcPct val="95449"/>
              </a:lnSpc>
            </a:pPr>
            <a:r>
              <a:rPr lang="ko-KR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ea typeface="Pretendard Medium"/>
              </a:rPr>
              <a:t>표면</a:t>
            </a:r>
            <a:r>
              <a:rPr lang="en-US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latin typeface="Pretendard Medium"/>
              </a:rPr>
              <a:t> </a:t>
            </a:r>
            <a:r>
              <a:rPr lang="ko-KR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ea typeface="Pretendard Medium"/>
              </a:rPr>
              <a:t>미세</a:t>
            </a:r>
            <a:r>
              <a:rPr lang="en-US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latin typeface="Pretendard Medium"/>
              </a:rPr>
              <a:t> </a:t>
            </a:r>
            <a:r>
              <a:rPr lang="ko-KR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ea typeface="Pretendard Medium"/>
              </a:rPr>
              <a:t>거칠기</a:t>
            </a:r>
            <a:r>
              <a:rPr lang="en-US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latin typeface="Pretendard Medium"/>
              </a:rPr>
              <a:t> </a:t>
            </a:r>
            <a:r>
              <a:rPr lang="ko-KR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ea typeface="Pretendard Medium"/>
              </a:rPr>
              <a:t>및</a:t>
            </a:r>
            <a:r>
              <a:rPr lang="en-US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latin typeface="Pretendard Medium"/>
              </a:rPr>
              <a:t> </a:t>
            </a:r>
            <a:r>
              <a:rPr lang="ko-KR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ea typeface="Pretendard Medium"/>
              </a:rPr>
              <a:t>다공성</a:t>
            </a:r>
            <a:r>
              <a:rPr lang="en-US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latin typeface="Pretendard Medium"/>
              </a:rPr>
              <a:t> / </a:t>
            </a:r>
            <a:r>
              <a:rPr lang="ko-KR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ea typeface="Pretendard Medium"/>
              </a:rPr>
              <a:t>빛</a:t>
            </a:r>
            <a:r>
              <a:rPr lang="en-US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latin typeface="Pretendard Medium"/>
              </a:rPr>
              <a:t> </a:t>
            </a:r>
            <a:r>
              <a:rPr lang="ko-KR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ea typeface="Pretendard Medium"/>
              </a:rPr>
              <a:t>반사율</a:t>
            </a:r>
            <a:r>
              <a:rPr lang="en-US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latin typeface="Pretendard Medium"/>
              </a:rPr>
              <a:t> </a:t>
            </a:r>
            <a:r>
              <a:rPr lang="ko-KR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ea typeface="Pretendard Medium"/>
              </a:rPr>
              <a:t>및</a:t>
            </a:r>
            <a:r>
              <a:rPr lang="en-US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latin typeface="Pretendard Medium"/>
              </a:rPr>
              <a:t> </a:t>
            </a:r>
            <a:r>
              <a:rPr lang="ko-KR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ea typeface="Pretendard Medium"/>
              </a:rPr>
              <a:t>흡수율</a:t>
            </a:r>
            <a:r>
              <a:rPr lang="en-US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latin typeface="Pretendard Medium"/>
              </a:rPr>
              <a:t> </a:t>
            </a:r>
            <a:r>
              <a:rPr lang="ko-KR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ea typeface="Pretendard Medium"/>
              </a:rPr>
              <a:t>패턴</a:t>
            </a:r>
            <a:r>
              <a:rPr lang="en-US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latin typeface="Pretendard Medium"/>
              </a:rPr>
              <a:t> / </a:t>
            </a:r>
            <a:r>
              <a:rPr lang="ko-KR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ea typeface="Pretendard Medium"/>
              </a:rPr>
              <a:t>결정</a:t>
            </a:r>
            <a:r>
              <a:rPr lang="en-US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latin typeface="Pretendard Medium"/>
              </a:rPr>
              <a:t> </a:t>
            </a:r>
            <a:r>
              <a:rPr lang="ko-KR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ea typeface="Pretendard Medium"/>
              </a:rPr>
              <a:t>구조와</a:t>
            </a:r>
            <a:r>
              <a:rPr lang="en-US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latin typeface="Pretendard Medium"/>
              </a:rPr>
              <a:t> </a:t>
            </a:r>
            <a:r>
              <a:rPr lang="ko-KR" sz="2774" b="0" i="0" u="none" strike="noStrike" spc="-83" dirty="0" err="1">
                <a:solidFill>
                  <a:srgbClr val="000000"/>
                </a:solidFill>
                <a:highlight>
                  <a:srgbClr val="FEEFC5"/>
                </a:highlight>
                <a:ea typeface="Pretendard Medium"/>
              </a:rPr>
              <a:t>벽개</a:t>
            </a:r>
            <a:r>
              <a:rPr lang="en-US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latin typeface="Pretendard Medium"/>
              </a:rPr>
              <a:t> </a:t>
            </a:r>
            <a:r>
              <a:rPr lang="ko-KR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ea typeface="Pretendard Medium"/>
              </a:rPr>
              <a:t>특성</a:t>
            </a:r>
            <a:r>
              <a:rPr lang="en-US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latin typeface="Pretendard Medium"/>
              </a:rPr>
              <a:t> / </a:t>
            </a:r>
            <a:r>
              <a:rPr lang="ko-KR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ea typeface="Pretendard Medium"/>
              </a:rPr>
              <a:t>미세</a:t>
            </a:r>
            <a:r>
              <a:rPr lang="en-US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latin typeface="Pretendard Medium"/>
              </a:rPr>
              <a:t> </a:t>
            </a:r>
            <a:r>
              <a:rPr lang="ko-KR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ea typeface="Pretendard Medium"/>
              </a:rPr>
              <a:t>색상</a:t>
            </a:r>
            <a:r>
              <a:rPr lang="en-US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latin typeface="Pretendard Medium"/>
              </a:rPr>
              <a:t> </a:t>
            </a:r>
            <a:r>
              <a:rPr lang="ko-KR" sz="2774" b="0" i="0" u="none" strike="noStrike" spc="-83" dirty="0">
                <a:solidFill>
                  <a:srgbClr val="000000"/>
                </a:solidFill>
                <a:highlight>
                  <a:srgbClr val="FEEFC5"/>
                </a:highlight>
                <a:ea typeface="Pretendard Medium"/>
              </a:rPr>
              <a:t>상관관계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91900" y="10414000"/>
            <a:ext cx="12992100" cy="27940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017500" y="4876800"/>
            <a:ext cx="774700" cy="7747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3601700" y="5118100"/>
            <a:ext cx="7213600" cy="495300"/>
          </a:xfrm>
          <a:prstGeom prst="rect">
            <a:avLst/>
          </a:prstGeom>
        </p:spPr>
        <p:txBody>
          <a:bodyPr lIns="0" tIns="44043" rIns="0" bIns="44043" rtlCol="0" anchor="ctr"/>
          <a:lstStyle/>
          <a:p>
            <a:pPr lvl="0" algn="l">
              <a:lnSpc>
                <a:spcPct val="95449"/>
              </a:lnSpc>
            </a:pP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육안으로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식별이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불가능한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암석의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고유한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특징을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학습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76200" y="7327900"/>
            <a:ext cx="774700" cy="7747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13411200" y="7670800"/>
            <a:ext cx="3937000" cy="14859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중금속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원소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기준치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이하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
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산성도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(pH)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046700" y="7670800"/>
            <a:ext cx="4699000" cy="14859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미분말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/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이물질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: 1.0%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이하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
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입형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(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모양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):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실적률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55%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이상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76200" y="8343900"/>
            <a:ext cx="774700" cy="7747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424400" y="7429500"/>
            <a:ext cx="774700" cy="7747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424400" y="8343900"/>
            <a:ext cx="774700" cy="774700"/>
          </a:xfrm>
          <a:prstGeom prst="rect">
            <a:avLst/>
          </a:prstGeom>
        </p:spPr>
      </p:pic>
      <p:sp>
        <p:nvSpPr>
          <p:cNvPr id="41" name="TextBox 22">
            <a:extLst>
              <a:ext uri="{FF2B5EF4-FFF2-40B4-BE49-F238E27FC236}">
                <a16:creationId xmlns:a16="http://schemas.microsoft.com/office/drawing/2014/main" id="{CBF32F5B-AACE-5194-2DED-456D03953434}"/>
              </a:ext>
            </a:extLst>
          </p:cNvPr>
          <p:cNvSpPr txBox="1"/>
          <p:nvPr/>
        </p:nvSpPr>
        <p:spPr>
          <a:xfrm>
            <a:off x="23774400" y="13106315"/>
            <a:ext cx="50074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600">
              <a:defRPr/>
            </a:pPr>
            <a:r>
              <a:rPr lang="en-US" altLang="ko-KR" sz="2700" dirty="0">
                <a:solidFill>
                  <a:prstClr val="black"/>
                </a:solidFill>
                <a:latin typeface="Aptos" panose="02110004020202020204"/>
                <a:ea typeface="맑은 고딕" panose="020B0503020000020004" pitchFamily="34" charset="-127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300" y="2311400"/>
            <a:ext cx="4076700" cy="787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1800" y="2311400"/>
            <a:ext cx="4178300" cy="787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00" y="2311400"/>
            <a:ext cx="4076700" cy="787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4900" y="2311400"/>
            <a:ext cx="4076700" cy="787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279400"/>
            <a:ext cx="8191500" cy="167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939800"/>
            <a:ext cx="15913100" cy="508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133600" y="2425700"/>
            <a:ext cx="35814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전처리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공정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: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단체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분리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5200" y="609600"/>
            <a:ext cx="6896100" cy="1066800"/>
          </a:xfrm>
          <a:prstGeom prst="rect">
            <a:avLst/>
          </a:prstGeom>
        </p:spPr>
        <p:txBody>
          <a:bodyPr lIns="0" tIns="68581" rIns="0" bIns="0" rtlCol="0" anchor="t"/>
          <a:lstStyle/>
          <a:p>
            <a:pPr lvl="0" algn="ctr">
              <a:lnSpc>
                <a:spcPct val="93788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경석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자원화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플랜트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10500" y="2425700"/>
            <a:ext cx="35306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분급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공정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: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선별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최적화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881100" y="2425700"/>
            <a:ext cx="27940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AI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정밀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선별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공정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037300" y="2425700"/>
            <a:ext cx="38989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후처리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공정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: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품질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고도화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600" y="4102100"/>
            <a:ext cx="5486400" cy="3022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2565400"/>
            <a:ext cx="965200" cy="279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61800" y="2565400"/>
            <a:ext cx="965200" cy="279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14900" y="2565400"/>
            <a:ext cx="965200" cy="279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7600" y="7340600"/>
            <a:ext cx="5092700" cy="3810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8800" y="4102100"/>
            <a:ext cx="5486400" cy="7048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31800" y="4102100"/>
            <a:ext cx="4787900" cy="3136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31800" y="7543800"/>
            <a:ext cx="4787900" cy="3619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580100" y="4102100"/>
            <a:ext cx="4699000" cy="70485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3937000" y="3860800"/>
            <a:ext cx="2374900" cy="495300"/>
          </a:xfrm>
          <a:prstGeom prst="rect">
            <a:avLst/>
          </a:prstGeom>
        </p:spPr>
        <p:txBody>
          <a:bodyPr lIns="0" tIns="44043" rIns="0" bIns="44043" rtlCol="0" anchor="ctr"/>
          <a:lstStyle/>
          <a:p>
            <a:pPr lvl="0" algn="l">
              <a:lnSpc>
                <a:spcPct val="95449"/>
              </a:lnSpc>
            </a:pP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호퍼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&amp;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진동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피더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49500" y="6819900"/>
            <a:ext cx="3848100" cy="495300"/>
          </a:xfrm>
          <a:prstGeom prst="rect">
            <a:avLst/>
          </a:prstGeom>
        </p:spPr>
        <p:txBody>
          <a:bodyPr lIns="0" tIns="44043" rIns="0" bIns="44043" rtlCol="0" anchor="ctr"/>
          <a:lstStyle/>
          <a:p>
            <a:pPr lvl="0" algn="r">
              <a:lnSpc>
                <a:spcPct val="95449"/>
              </a:lnSpc>
            </a:pP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1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차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파쇄기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(Jaw Crusher)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13700" y="3530600"/>
            <a:ext cx="4495800" cy="495300"/>
          </a:xfrm>
          <a:prstGeom prst="rect">
            <a:avLst/>
          </a:prstGeom>
        </p:spPr>
        <p:txBody>
          <a:bodyPr lIns="0" tIns="44043" rIns="0" bIns="44043" rtlCol="0" anchor="ctr"/>
          <a:lstStyle/>
          <a:p>
            <a:pPr lvl="0" algn="l">
              <a:lnSpc>
                <a:spcPct val="95449"/>
              </a:lnSpc>
            </a:pP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진동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스크린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(Vibrating Screen)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89100" y="3530600"/>
            <a:ext cx="3644900" cy="495300"/>
          </a:xfrm>
          <a:prstGeom prst="rect">
            <a:avLst/>
          </a:prstGeom>
        </p:spPr>
        <p:txBody>
          <a:bodyPr lIns="0" tIns="44043" rIns="0" bIns="44043" rtlCol="0" anchor="ctr"/>
          <a:lstStyle/>
          <a:p>
            <a:pPr lvl="0" algn="l">
              <a:lnSpc>
                <a:spcPct val="95449"/>
              </a:lnSpc>
            </a:pP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AI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비전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박스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(Vision Box)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38200" y="7048500"/>
            <a:ext cx="4483100" cy="495300"/>
          </a:xfrm>
          <a:prstGeom prst="rect">
            <a:avLst/>
          </a:prstGeom>
        </p:spPr>
        <p:txBody>
          <a:bodyPr lIns="0" tIns="44043" rIns="0" bIns="44043" rtlCol="0" anchor="ctr"/>
          <a:lstStyle/>
          <a:p>
            <a:pPr lvl="0" algn="l">
              <a:lnSpc>
                <a:spcPct val="95449"/>
              </a:lnSpc>
            </a:pP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에어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젯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선별기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(Air-Jet Ejector)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719800" y="3530600"/>
            <a:ext cx="4673600" cy="495300"/>
          </a:xfrm>
          <a:prstGeom prst="rect">
            <a:avLst/>
          </a:prstGeom>
        </p:spPr>
        <p:txBody>
          <a:bodyPr lIns="0" tIns="44043" rIns="0" bIns="44043" rtlCol="0" anchor="ctr"/>
          <a:lstStyle/>
          <a:p>
            <a:pPr lvl="0" algn="l">
              <a:lnSpc>
                <a:spcPct val="95449"/>
              </a:lnSpc>
            </a:pP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로그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와셔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(Log Washer /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세척기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)</a:t>
            </a:r>
          </a:p>
        </p:txBody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702F3E49-EEF0-C66B-E301-F8A288ED9C4F}"/>
              </a:ext>
            </a:extLst>
          </p:cNvPr>
          <p:cNvSpPr txBox="1"/>
          <p:nvPr/>
        </p:nvSpPr>
        <p:spPr>
          <a:xfrm>
            <a:off x="23774400" y="13106315"/>
            <a:ext cx="50074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600">
              <a:defRPr/>
            </a:pPr>
            <a:r>
              <a:rPr lang="en-US" altLang="ko-KR" sz="2700" dirty="0">
                <a:solidFill>
                  <a:prstClr val="black"/>
                </a:solidFill>
                <a:latin typeface="Aptos" panose="02110004020202020204"/>
                <a:ea typeface="맑은 고딕" panose="020B0503020000020004" pitchFamily="34" charset="-127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1700" y="2095500"/>
            <a:ext cx="10553700" cy="787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279400"/>
            <a:ext cx="8191500" cy="1676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939800"/>
            <a:ext cx="15913100" cy="50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2585700" y="2209800"/>
            <a:ext cx="102743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Smart Polygon: AI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자동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라벨링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툴을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활용한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고정밀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데이터셋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구축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0" y="8623300"/>
            <a:ext cx="13208000" cy="4851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65200" y="609600"/>
            <a:ext cx="6896100" cy="1066800"/>
          </a:xfrm>
          <a:prstGeom prst="rect">
            <a:avLst/>
          </a:prstGeom>
        </p:spPr>
        <p:txBody>
          <a:bodyPr lIns="0" tIns="68581" rIns="0" bIns="0" rtlCol="0" anchor="t"/>
          <a:lstStyle/>
          <a:p>
            <a:pPr lvl="0" algn="ctr">
              <a:lnSpc>
                <a:spcPct val="93788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컨베이어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벨트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객체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분류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3352800"/>
            <a:ext cx="13208000" cy="4851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6300" y="10325100"/>
            <a:ext cx="6832600" cy="1257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1300" y="8267700"/>
            <a:ext cx="5905500" cy="1257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0300" y="6299200"/>
            <a:ext cx="3733800" cy="1257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1300" y="4356100"/>
            <a:ext cx="5562600" cy="1257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1300" y="2489200"/>
            <a:ext cx="5562600" cy="1257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5168900" y="3314700"/>
            <a:ext cx="723900" cy="10922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060700" y="2590800"/>
            <a:ext cx="5372100" cy="8255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컨베이어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벨트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실시간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영상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스트림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84500" y="4546600"/>
            <a:ext cx="54610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YOLOv8-Seg :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객체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탐지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분할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05300" y="6515100"/>
            <a:ext cx="24638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ctr">
              <a:lnSpc>
                <a:spcPct val="95449"/>
              </a:lnSpc>
            </a:pP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다중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객체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추적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971800" y="8369300"/>
            <a:ext cx="5626100" cy="8255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ctr">
              <a:lnSpc>
                <a:spcPct val="95449"/>
              </a:lnSpc>
            </a:pP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Segmentation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마스크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시각화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25700" y="10414000"/>
            <a:ext cx="6451600" cy="8255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ctr">
              <a:lnSpc>
                <a:spcPct val="95449"/>
              </a:lnSpc>
            </a:pP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선별기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(Air-jet)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제어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신호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전송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5168900" y="5295900"/>
            <a:ext cx="723900" cy="1092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5168900" y="7239000"/>
            <a:ext cx="723900" cy="1092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0800000">
            <a:off x="5168900" y="9194800"/>
            <a:ext cx="723900" cy="10922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3657600" y="11620500"/>
            <a:ext cx="3848100" cy="5588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암석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별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시각화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객체</a:t>
            </a:r>
            <a:r>
              <a:rPr lang="en-US" sz="3174" b="1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1" i="0" u="none" strike="noStrike" spc="-95">
                <a:solidFill>
                  <a:srgbClr val="000000"/>
                </a:solidFill>
                <a:ea typeface="Pretendard Medium"/>
              </a:rPr>
              <a:t>분류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6300" y="12611100"/>
            <a:ext cx="3276600" cy="469900"/>
          </a:xfrm>
          <a:prstGeom prst="rect">
            <a:avLst/>
          </a:prstGeom>
        </p:spPr>
        <p:txBody>
          <a:bodyPr lIns="0" tIns="41927" rIns="0" bIns="41927" rtlCol="0" anchor="ctr"/>
          <a:lstStyle/>
          <a:p>
            <a:pPr lvl="0" algn="ctr">
              <a:lnSpc>
                <a:spcPct val="95449"/>
              </a:lnSpc>
            </a:pPr>
            <a:r>
              <a:rPr lang="en-US" sz="2641" b="0" i="0" u="none" strike="noStrike" spc="-79">
                <a:solidFill>
                  <a:srgbClr val="000000"/>
                </a:solidFill>
                <a:latin typeface="Pretendard Medium"/>
              </a:rPr>
              <a:t>Quartz (</a:t>
            </a:r>
            <a:r>
              <a:rPr lang="ko-KR" sz="2641" b="0" i="0" u="none" strike="noStrike" spc="-79">
                <a:solidFill>
                  <a:srgbClr val="000000"/>
                </a:solidFill>
                <a:ea typeface="Pretendard Medium"/>
              </a:rPr>
              <a:t>석영</a:t>
            </a:r>
            <a:r>
              <a:rPr lang="en-US" sz="2641" b="0" i="0" u="none" strike="noStrike" spc="-79">
                <a:solidFill>
                  <a:srgbClr val="000000"/>
                </a:solidFill>
                <a:latin typeface="Pretendard Medium"/>
              </a:rPr>
              <a:t>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987800" y="12611100"/>
            <a:ext cx="3111500" cy="469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657" b="1" i="0" u="none" strike="noStrike">
                <a:solidFill>
                  <a:srgbClr val="000000"/>
                </a:solidFill>
                <a:latin typeface="Pretendard Regular"/>
              </a:rPr>
              <a:t>Coal (</a:t>
            </a:r>
            <a:r>
              <a:rPr lang="ko-KR" sz="2657" b="1" i="0" u="none" strike="noStrike">
                <a:solidFill>
                  <a:srgbClr val="000000"/>
                </a:solidFill>
                <a:ea typeface="Pretendard Regular"/>
              </a:rPr>
              <a:t>탄소</a:t>
            </a:r>
            <a:r>
              <a:rPr lang="en-US" sz="2657" b="1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21500" y="12611100"/>
            <a:ext cx="3670300" cy="469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657" b="1" i="0" u="none" strike="noStrike">
                <a:solidFill>
                  <a:srgbClr val="000000"/>
                </a:solidFill>
                <a:latin typeface="Pretendard Regular"/>
              </a:rPr>
              <a:t>Pyrite (</a:t>
            </a:r>
            <a:r>
              <a:rPr lang="ko-KR" sz="2657" b="1" i="0" u="none" strike="noStrike">
                <a:solidFill>
                  <a:srgbClr val="000000"/>
                </a:solidFill>
                <a:ea typeface="Pretendard Regular"/>
              </a:rPr>
              <a:t>황철석</a:t>
            </a:r>
            <a:r>
              <a:rPr lang="en-US" sz="2657" b="1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80EB1FEA-6110-91E9-CF6E-F08EC567F67E}"/>
              </a:ext>
            </a:extLst>
          </p:cNvPr>
          <p:cNvSpPr txBox="1"/>
          <p:nvPr/>
        </p:nvSpPr>
        <p:spPr>
          <a:xfrm>
            <a:off x="23774400" y="13106315"/>
            <a:ext cx="50074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600">
              <a:defRPr/>
            </a:pPr>
            <a:r>
              <a:rPr lang="en-US" altLang="ko-KR" sz="2700" dirty="0">
                <a:solidFill>
                  <a:prstClr val="black"/>
                </a:solidFill>
                <a:latin typeface="Aptos" panose="02110004020202020204"/>
                <a:ea typeface="맑은 고딕" panose="020B0503020000020004" pitchFamily="34" charset="-127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" y="279400"/>
            <a:ext cx="8191500" cy="1676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939800"/>
            <a:ext cx="15913100" cy="5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65200" y="609600"/>
            <a:ext cx="6896100" cy="838200"/>
          </a:xfrm>
          <a:prstGeom prst="rect">
            <a:avLst/>
          </a:prstGeom>
        </p:spPr>
        <p:txBody>
          <a:bodyPr lIns="0" tIns="68581" rIns="0" bIns="0" rtlCol="0" anchor="t"/>
          <a:lstStyle/>
          <a:p>
            <a:pPr lvl="0" algn="ctr">
              <a:lnSpc>
                <a:spcPct val="93788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유해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광물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자동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선별기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55800"/>
            <a:ext cx="24384000" cy="11760200"/>
          </a:xfrm>
          <a:prstGeom prst="rect">
            <a:avLst/>
          </a:prstGeom>
        </p:spPr>
      </p:pic>
      <p:sp>
        <p:nvSpPr>
          <p:cNvPr id="6" name="TextBox 22">
            <a:extLst>
              <a:ext uri="{FF2B5EF4-FFF2-40B4-BE49-F238E27FC236}">
                <a16:creationId xmlns:a16="http://schemas.microsoft.com/office/drawing/2014/main" id="{F41C16BC-C536-2BA8-A119-FEF4E1D6B346}"/>
              </a:ext>
            </a:extLst>
          </p:cNvPr>
          <p:cNvSpPr txBox="1"/>
          <p:nvPr/>
        </p:nvSpPr>
        <p:spPr>
          <a:xfrm>
            <a:off x="23698200" y="13106315"/>
            <a:ext cx="57694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600">
              <a:defRPr/>
            </a:pPr>
            <a:r>
              <a:rPr lang="en-US" altLang="ko-KR" sz="2700" dirty="0">
                <a:solidFill>
                  <a:prstClr val="black"/>
                </a:solidFill>
                <a:latin typeface="Aptos" panose="02110004020202020204"/>
                <a:ea typeface="맑은 고딕" panose="020B0503020000020004" pitchFamily="34" charset="-127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6800" y="8928100"/>
            <a:ext cx="3086100" cy="787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9200" y="3429000"/>
            <a:ext cx="2794000" cy="787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279400"/>
            <a:ext cx="8191500" cy="1676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939800"/>
            <a:ext cx="15913100" cy="50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65200" y="609600"/>
            <a:ext cx="6896100" cy="1066800"/>
          </a:xfrm>
          <a:prstGeom prst="rect">
            <a:avLst/>
          </a:prstGeom>
        </p:spPr>
        <p:txBody>
          <a:bodyPr lIns="0" tIns="68581" rIns="0" bIns="0" rtlCol="0" anchor="t"/>
          <a:lstStyle/>
          <a:p>
            <a:pPr lvl="0" algn="ctr">
              <a:lnSpc>
                <a:spcPct val="93788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성능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검증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시각화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400" y="2108200"/>
            <a:ext cx="12674600" cy="7061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982200" y="6489700"/>
            <a:ext cx="3543300" cy="1028700"/>
          </a:xfrm>
          <a:prstGeom prst="rect">
            <a:avLst/>
          </a:prstGeom>
        </p:spPr>
        <p:txBody>
          <a:bodyPr lIns="0" tIns="50393" rIns="0" bIns="50393" rtlCol="0" anchor="ctr"/>
          <a:lstStyle/>
          <a:p>
            <a:pPr lvl="0" algn="l">
              <a:lnSpc>
                <a:spcPct val="95449"/>
              </a:lnSpc>
            </a:pP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[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최종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성능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]</a:t>
            </a:r>
          </a:p>
          <a:p>
            <a:pPr lvl="0" algn="l">
              <a:lnSpc>
                <a:spcPct val="95449"/>
              </a:lnSpc>
            </a:pP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검증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174" b="0" i="0" u="none" strike="noStrike" spc="-95">
                <a:solidFill>
                  <a:srgbClr val="000000"/>
                </a:solidFill>
                <a:ea typeface="Pretendard Medium"/>
              </a:rPr>
              <a:t>정확도</a:t>
            </a:r>
            <a:r>
              <a:rPr lang="en-US" sz="3174" b="0" i="0" u="none" strike="noStrike" spc="-95">
                <a:solidFill>
                  <a:srgbClr val="000000"/>
                </a:solidFill>
                <a:latin typeface="Pretendard Medium"/>
              </a:rPr>
              <a:t>: 96.92%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0" y="6477000"/>
            <a:ext cx="3441700" cy="1041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6600" y="9613900"/>
            <a:ext cx="11404600" cy="3238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600" y="2768600"/>
            <a:ext cx="6946900" cy="1041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1070660">
            <a:off x="13271500" y="3365500"/>
            <a:ext cx="4140200" cy="2286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7335500" y="3454400"/>
            <a:ext cx="3568700" cy="736600"/>
          </a:xfrm>
          <a:prstGeom prst="rect">
            <a:avLst/>
          </a:prstGeom>
        </p:spPr>
        <p:txBody>
          <a:bodyPr lIns="0" tIns="65210" rIns="0" bIns="65210" rtlCol="0" anchor="ctr"/>
          <a:lstStyle/>
          <a:p>
            <a:pPr lvl="0" algn="ctr">
              <a:lnSpc>
                <a:spcPct val="95449"/>
              </a:lnSpc>
            </a:pPr>
            <a:r>
              <a:rPr lang="ko-KR" sz="4107" b="0" i="0" u="none" strike="noStrike" spc="-123">
                <a:solidFill>
                  <a:srgbClr val="000000"/>
                </a:solidFill>
                <a:ea typeface="Pretendard Medium"/>
              </a:rPr>
              <a:t>학습</a:t>
            </a:r>
            <a:r>
              <a:rPr lang="en-US" sz="4107" b="0" i="0" u="none" strike="noStrike" spc="-12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107" b="0" i="0" u="none" strike="noStrike" spc="-123">
                <a:solidFill>
                  <a:srgbClr val="000000"/>
                </a:solidFill>
                <a:ea typeface="Pretendard Medium"/>
              </a:rPr>
              <a:t>안정성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49400" y="4343400"/>
            <a:ext cx="774700" cy="774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5011400" y="4432300"/>
            <a:ext cx="8991600" cy="977900"/>
          </a:xfrm>
          <a:prstGeom prst="rect">
            <a:avLst/>
          </a:prstGeom>
        </p:spPr>
        <p:txBody>
          <a:bodyPr lIns="0" tIns="44043" rIns="0" bIns="44043" rtlCol="0" anchor="ctr"/>
          <a:lstStyle/>
          <a:p>
            <a:pPr lvl="0" algn="l">
              <a:lnSpc>
                <a:spcPct val="95449"/>
              </a:lnSpc>
            </a:pP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Training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과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Validation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곡선이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동기화되어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상승하고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있으며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,</a:t>
            </a:r>
          </a:p>
          <a:p>
            <a:pPr lvl="0" algn="l">
              <a:lnSpc>
                <a:spcPct val="95449"/>
              </a:lnSpc>
            </a:pP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이는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과적합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없이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안정적인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학습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패턴을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보인다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22000" y="11061700"/>
            <a:ext cx="939800" cy="1790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9681369">
            <a:off x="11544300" y="10147300"/>
            <a:ext cx="5397500" cy="2286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7640300" y="8953500"/>
            <a:ext cx="2946400" cy="736600"/>
          </a:xfrm>
          <a:prstGeom prst="rect">
            <a:avLst/>
          </a:prstGeom>
        </p:spPr>
        <p:txBody>
          <a:bodyPr lIns="0" tIns="65210" rIns="0" bIns="65210" rtlCol="0" anchor="ctr"/>
          <a:lstStyle/>
          <a:p>
            <a:pPr lvl="0" algn="ctr">
              <a:lnSpc>
                <a:spcPct val="95449"/>
              </a:lnSpc>
            </a:pPr>
            <a:r>
              <a:rPr lang="ko-KR" sz="4107" b="0" i="0" u="none" strike="noStrike" spc="-123">
                <a:solidFill>
                  <a:srgbClr val="000000"/>
                </a:solidFill>
                <a:ea typeface="Pretendard Medium"/>
              </a:rPr>
              <a:t>데이터</a:t>
            </a:r>
            <a:r>
              <a:rPr lang="en-US" sz="4107" b="0" i="0" u="none" strike="noStrike" spc="-12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107" b="0" i="0" u="none" strike="noStrike" spc="-123">
                <a:solidFill>
                  <a:srgbClr val="000000"/>
                </a:solidFill>
                <a:ea typeface="Pretendard Medium"/>
              </a:rPr>
              <a:t>강건성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20900" y="10541000"/>
            <a:ext cx="774700" cy="7747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5595600" y="10655300"/>
            <a:ext cx="7696200" cy="901700"/>
          </a:xfrm>
          <a:prstGeom prst="rect">
            <a:avLst/>
          </a:prstGeom>
        </p:spPr>
        <p:txBody>
          <a:bodyPr lIns="0" tIns="44043" rIns="0" bIns="44043" rtlCol="0" anchor="ctr"/>
          <a:lstStyle/>
          <a:p>
            <a:pPr lvl="0" algn="l">
              <a:lnSpc>
                <a:spcPct val="95449"/>
              </a:lnSpc>
            </a:pP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조명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변화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노이즈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등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악조건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데이터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증강을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적용했음에도</a:t>
            </a:r>
          </a:p>
          <a:p>
            <a:pPr lvl="0" algn="l">
              <a:lnSpc>
                <a:spcPct val="95449"/>
              </a:lnSpc>
            </a:pP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초기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(Epoch 5)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부터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90%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이상의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높은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인식률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774" b="0" i="0" u="none" strike="noStrike" spc="-83">
                <a:solidFill>
                  <a:srgbClr val="000000"/>
                </a:solidFill>
                <a:ea typeface="Pretendard Medium"/>
              </a:rPr>
              <a:t>달성했다</a:t>
            </a:r>
            <a:r>
              <a:rPr lang="en-US" sz="2774" b="0" i="0" u="none" strike="noStrike" spc="-83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6700BB58-295C-7952-FC80-0B1D11505F2A}"/>
              </a:ext>
            </a:extLst>
          </p:cNvPr>
          <p:cNvSpPr txBox="1"/>
          <p:nvPr/>
        </p:nvSpPr>
        <p:spPr>
          <a:xfrm>
            <a:off x="23698200" y="13106315"/>
            <a:ext cx="57694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600">
              <a:defRPr/>
            </a:pPr>
            <a:r>
              <a:rPr lang="en-US" altLang="ko-KR" sz="2700" dirty="0">
                <a:solidFill>
                  <a:prstClr val="black"/>
                </a:solidFill>
                <a:latin typeface="Aptos" panose="02110004020202020204"/>
                <a:ea typeface="맑은 고딕" panose="020B0503020000020004" pitchFamily="34" charset="-127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0" y="1955800"/>
            <a:ext cx="19672300" cy="1135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5500"/>
            <a:ext cx="24384000" cy="735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279400"/>
            <a:ext cx="8191500" cy="1676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939800"/>
            <a:ext cx="15913100" cy="50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65200" y="609600"/>
            <a:ext cx="6896100" cy="838200"/>
          </a:xfrm>
          <a:prstGeom prst="rect">
            <a:avLst/>
          </a:prstGeom>
        </p:spPr>
        <p:txBody>
          <a:bodyPr lIns="0" tIns="68581" rIns="0" bIns="0" rtlCol="0" anchor="t"/>
          <a:lstStyle/>
          <a:p>
            <a:pPr lvl="0" algn="ctr">
              <a:lnSpc>
                <a:spcPct val="93788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산업체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협력</a:t>
            </a: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Medium"/>
              </a:rPr>
              <a:t>제안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0900" y="3035300"/>
            <a:ext cx="5486400" cy="1612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30700" y="1955800"/>
            <a:ext cx="3302000" cy="2184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5700" y="3848100"/>
            <a:ext cx="4826000" cy="76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1300" y="9880600"/>
            <a:ext cx="4102100" cy="2692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25100" y="9880600"/>
            <a:ext cx="4305300" cy="2692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979900" y="9880600"/>
            <a:ext cx="3365500" cy="2692400"/>
          </a:xfrm>
          <a:prstGeom prst="rect">
            <a:avLst/>
          </a:prstGeom>
        </p:spPr>
      </p:pic>
      <p:sp>
        <p:nvSpPr>
          <p:cNvPr id="13" name="TextBox 22">
            <a:extLst>
              <a:ext uri="{FF2B5EF4-FFF2-40B4-BE49-F238E27FC236}">
                <a16:creationId xmlns:a16="http://schemas.microsoft.com/office/drawing/2014/main" id="{6FEAC51D-5E78-C8A4-1CDD-54070D3D526C}"/>
              </a:ext>
            </a:extLst>
          </p:cNvPr>
          <p:cNvSpPr txBox="1"/>
          <p:nvPr/>
        </p:nvSpPr>
        <p:spPr>
          <a:xfrm>
            <a:off x="23698200" y="13106315"/>
            <a:ext cx="57694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600">
              <a:defRPr/>
            </a:pPr>
            <a:r>
              <a:rPr lang="en-US" altLang="ko-KR" sz="2700" dirty="0">
                <a:solidFill>
                  <a:prstClr val="black"/>
                </a:solidFill>
                <a:latin typeface="Aptos" panose="02110004020202020204"/>
                <a:ea typeface="맑은 고딕" panose="020B0503020000020004" pitchFamily="34" charset="-127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279400"/>
            <a:ext cx="8191500" cy="1676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939800"/>
            <a:ext cx="15913100" cy="50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65200" y="609600"/>
            <a:ext cx="6896100" cy="838200"/>
          </a:xfrm>
          <a:prstGeom prst="rect">
            <a:avLst/>
          </a:prstGeom>
        </p:spPr>
        <p:txBody>
          <a:bodyPr lIns="0" tIns="68581" rIns="0" bIns="0" rtlCol="0" anchor="t"/>
          <a:lstStyle/>
          <a:p>
            <a:pPr lvl="0" algn="ctr">
              <a:lnSpc>
                <a:spcPct val="93788"/>
              </a:lnSpc>
            </a:pPr>
            <a:r>
              <a:rPr lang="en" sz="4000" b="0" i="0" u="none" strike="noStrike">
                <a:solidFill>
                  <a:srgbClr val="000000"/>
                </a:solidFill>
                <a:latin typeface="Pretendard Medium"/>
              </a:rPr>
              <a:t>TEAM MATE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2100" y="3746500"/>
            <a:ext cx="16179800" cy="7480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3746500"/>
            <a:ext cx="1244600" cy="1968500"/>
          </a:xfrm>
          <a:prstGeom prst="rect">
            <a:avLst/>
          </a:prstGeom>
        </p:spPr>
      </p:pic>
      <p:sp>
        <p:nvSpPr>
          <p:cNvPr id="8" name="TextBox 22">
            <a:extLst>
              <a:ext uri="{FF2B5EF4-FFF2-40B4-BE49-F238E27FC236}">
                <a16:creationId xmlns:a16="http://schemas.microsoft.com/office/drawing/2014/main" id="{CA9BD246-CB66-212E-C143-B8BA33C73390}"/>
              </a:ext>
            </a:extLst>
          </p:cNvPr>
          <p:cNvSpPr txBox="1"/>
          <p:nvPr/>
        </p:nvSpPr>
        <p:spPr>
          <a:xfrm>
            <a:off x="23698200" y="13106315"/>
            <a:ext cx="57694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600">
              <a:defRPr/>
            </a:pPr>
            <a:r>
              <a:rPr lang="en-US" altLang="ko-KR" sz="2700" dirty="0">
                <a:solidFill>
                  <a:prstClr val="black"/>
                </a:solidFill>
                <a:latin typeface="Aptos" panose="02110004020202020204"/>
                <a:ea typeface="맑은 고딕" panose="020B0503020000020004" pitchFamily="34" charset="-127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" y="279400"/>
            <a:ext cx="8191500" cy="1676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965200" y="609600"/>
            <a:ext cx="6896100" cy="838200"/>
          </a:xfrm>
          <a:prstGeom prst="rect">
            <a:avLst/>
          </a:prstGeom>
        </p:spPr>
        <p:txBody>
          <a:bodyPr lIns="0" tIns="68581" rIns="0" bIns="0" rtlCol="0" anchor="t"/>
          <a:lstStyle/>
          <a:p>
            <a:pPr lvl="0" algn="ctr">
              <a:lnSpc>
                <a:spcPct val="93788"/>
              </a:lnSpc>
            </a:pPr>
            <a:r>
              <a:rPr lang="en" sz="4000" b="0" i="0" u="none" strike="noStrike">
                <a:solidFill>
                  <a:srgbClr val="000000"/>
                </a:solidFill>
                <a:latin typeface="Pretendard Medium"/>
              </a:rPr>
              <a:t>References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33700" y="2235200"/>
            <a:ext cx="20599400" cy="9867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이계승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,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전효택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. (2010).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태백산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광화대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선탄경석의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광물학적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및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화학적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특성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.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한국자원공학회지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, 47(4), 481-492.</a:t>
            </a:r>
          </a:p>
          <a:p>
            <a:pPr lvl="0" algn="l">
              <a:lnSpc>
                <a:spcPct val="116199"/>
              </a:lnSpc>
            </a:pPr>
            <a:endParaRPr lang="en-US" sz="3082" b="0" i="0" u="none" strike="noStrike">
              <a:solidFill>
                <a:srgbClr val="000000"/>
              </a:solidFill>
              <a:highlight>
                <a:srgbClr val="FFFFFF"/>
              </a:highlight>
              <a:latin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강원테크노파크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. (2023).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강원도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석탄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경석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활용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산업화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방안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및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경제성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분석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보고서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.</a:t>
            </a:r>
          </a:p>
          <a:p>
            <a:pPr lvl="0" algn="l">
              <a:lnSpc>
                <a:spcPct val="116199"/>
              </a:lnSpc>
            </a:pPr>
            <a:endParaRPr lang="en-US" sz="3082" b="0" i="0" u="none" strike="noStrike">
              <a:solidFill>
                <a:srgbClr val="000000"/>
              </a:solidFill>
              <a:highlight>
                <a:srgbClr val="FFFFFF"/>
              </a:highlight>
              <a:latin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환경부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. (2012). 2011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년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폐금속광산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및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폐석탄광산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토양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·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수질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오염실태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조사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결과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.</a:t>
            </a:r>
          </a:p>
          <a:p>
            <a:pPr lvl="0" algn="l">
              <a:lnSpc>
                <a:spcPct val="116199"/>
              </a:lnSpc>
            </a:pPr>
            <a:endParaRPr lang="en-US" sz="3082" b="0" i="0" u="none" strike="noStrike">
              <a:solidFill>
                <a:srgbClr val="000000"/>
              </a:solidFill>
              <a:highlight>
                <a:srgbClr val="FFFFFF"/>
              </a:highlight>
              <a:latin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국가기술표준원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. (2022). KS F 2527:2022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콘크리트용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골재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. e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나라표준인증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.</a:t>
            </a:r>
          </a:p>
          <a:p>
            <a:pPr lvl="0" algn="l">
              <a:lnSpc>
                <a:spcPct val="116199"/>
              </a:lnSpc>
            </a:pPr>
            <a:endParaRPr lang="en-US" sz="3082" b="0" i="0" u="none" strike="noStrike">
              <a:solidFill>
                <a:srgbClr val="000000"/>
              </a:solidFill>
              <a:highlight>
                <a:srgbClr val="FFFFFF"/>
              </a:highlight>
              <a:latin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통계청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. (2024).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국내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인구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이동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통계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(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강원도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태백시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인구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추이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).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국가통계포털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(KOSIS).</a:t>
            </a:r>
          </a:p>
          <a:p>
            <a:pPr lvl="0" algn="l">
              <a:lnSpc>
                <a:spcPct val="116199"/>
              </a:lnSpc>
            </a:pPr>
            <a:endParaRPr lang="en-US" sz="3082" b="0" i="0" u="none" strike="noStrike">
              <a:solidFill>
                <a:srgbClr val="000000"/>
              </a:solidFill>
              <a:highlight>
                <a:srgbClr val="FFFFFF"/>
              </a:highlight>
              <a:latin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대한석탄공사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. (2024).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장성광업소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현황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및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폐광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대책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.</a:t>
            </a:r>
          </a:p>
          <a:p>
            <a:pPr lvl="0" algn="l">
              <a:lnSpc>
                <a:spcPct val="116199"/>
              </a:lnSpc>
            </a:pPr>
            <a:endParaRPr lang="en-US" sz="3082" b="0" i="0" u="none" strike="noStrike">
              <a:solidFill>
                <a:srgbClr val="000000"/>
              </a:solidFill>
              <a:highlight>
                <a:srgbClr val="FFFFFF"/>
              </a:highlight>
              <a:latin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환경부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.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폐기물관리법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시행규칙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[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별표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5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의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3]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폐기물의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재활용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 </a:t>
            </a:r>
            <a:r>
              <a:rPr lang="ko-KR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ea typeface="Pretendard Medium"/>
              </a:rPr>
              <a:t>기준</a:t>
            </a:r>
            <a:r>
              <a:rPr lang="en-US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.</a:t>
            </a:r>
          </a:p>
          <a:p>
            <a:pPr lvl="0" algn="l">
              <a:lnSpc>
                <a:spcPct val="116199"/>
              </a:lnSpc>
            </a:pPr>
            <a:endParaRPr lang="en-US" sz="3082" b="0" i="0" u="none" strike="noStrike">
              <a:solidFill>
                <a:srgbClr val="000000"/>
              </a:solidFill>
              <a:highlight>
                <a:srgbClr val="FFFFFF"/>
              </a:highlight>
              <a:latin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Jocher, G., Chaurasia, A., &amp; Qiu, J. (2023). Ultralytics YOLOv8. Retrieved from</a:t>
            </a:r>
          </a:p>
          <a:p>
            <a:pPr lvl="0" algn="l">
              <a:lnSpc>
                <a:spcPct val="116199"/>
              </a:lnSpc>
            </a:pPr>
            <a:endParaRPr lang="en" sz="3082" b="0" i="0" u="none" strike="noStrike">
              <a:solidFill>
                <a:srgbClr val="000000"/>
              </a:solidFill>
              <a:highlight>
                <a:srgbClr val="FFFFFF"/>
              </a:highlight>
              <a:latin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" sz="3082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Medium"/>
              </a:rPr>
              <a:t>Sandler, M., Howard, A., Zhu, M., Zhmoginov, A., &amp; Chen, L. C. (2018). MobileNetV2: Inverted Residuals and Linear Bottlenecks. Proceedings of the IEEE Conference on Computer Vision and Pattern Recognition (CVPR).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939800"/>
            <a:ext cx="15913100" cy="50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0" y="1955800"/>
            <a:ext cx="901700" cy="901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2000" y="3136900"/>
            <a:ext cx="901700" cy="901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0" y="4318000"/>
            <a:ext cx="9017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0" y="5359400"/>
            <a:ext cx="901700" cy="901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0" y="6400800"/>
            <a:ext cx="901700" cy="901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0" y="7581900"/>
            <a:ext cx="901700" cy="901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0" y="8763000"/>
            <a:ext cx="901700" cy="901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0" y="9804400"/>
            <a:ext cx="901700" cy="901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00" y="10845800"/>
            <a:ext cx="901700" cy="901700"/>
          </a:xfrm>
          <a:prstGeom prst="rect">
            <a:avLst/>
          </a:prstGeom>
        </p:spPr>
      </p:pic>
      <p:sp>
        <p:nvSpPr>
          <p:cNvPr id="15" name="TextBox 22">
            <a:extLst>
              <a:ext uri="{FF2B5EF4-FFF2-40B4-BE49-F238E27FC236}">
                <a16:creationId xmlns:a16="http://schemas.microsoft.com/office/drawing/2014/main" id="{15C75C9D-50A7-0EE0-6E06-F71F339F038E}"/>
              </a:ext>
            </a:extLst>
          </p:cNvPr>
          <p:cNvSpPr txBox="1"/>
          <p:nvPr/>
        </p:nvSpPr>
        <p:spPr>
          <a:xfrm>
            <a:off x="23698200" y="13106315"/>
            <a:ext cx="57694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600">
              <a:defRPr/>
            </a:pPr>
            <a:r>
              <a:rPr lang="en-US" altLang="ko-KR" sz="2700" dirty="0">
                <a:solidFill>
                  <a:prstClr val="black"/>
                </a:solidFill>
                <a:latin typeface="Aptos" panose="02110004020202020204"/>
                <a:ea typeface="맑은 고딕" panose="020B0503020000020004" pitchFamily="34" charset="-127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8000" y="495300"/>
            <a:ext cx="4394200" cy="546100"/>
          </a:xfrm>
          <a:prstGeom prst="rect">
            <a:avLst/>
          </a:prstGeom>
        </p:spPr>
        <p:txBody>
          <a:bodyPr lIns="0" tIns="52579" rIns="0" bIns="0" rtlCol="0" anchor="t"/>
          <a:lstStyle/>
          <a:p>
            <a:pPr lvl="0" algn="ctr">
              <a:lnSpc>
                <a:spcPct val="93788"/>
              </a:lnSpc>
            </a:pPr>
            <a:r>
              <a:rPr lang="en" sz="3066" b="0" i="0" u="none" strike="noStrike">
                <a:solidFill>
                  <a:srgbClr val="000000"/>
                </a:solidFill>
                <a:latin typeface="Mattone Regular"/>
              </a:rPr>
              <a:t>Re-Stone sorter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81900" y="5575300"/>
            <a:ext cx="9232900" cy="2565400"/>
          </a:xfrm>
          <a:prstGeom prst="rect">
            <a:avLst/>
          </a:prstGeom>
        </p:spPr>
        <p:txBody>
          <a:bodyPr lIns="0" tIns="86770" rIns="0" bIns="86770" rtlCol="0" anchor="ctr"/>
          <a:lstStyle/>
          <a:p>
            <a:pPr lvl="0" algn="ctr">
              <a:lnSpc>
                <a:spcPct val="95449"/>
              </a:lnSpc>
            </a:pPr>
            <a:r>
              <a:rPr lang="en" sz="14452" b="0" i="0" u="none" strike="noStrike" spc="-434">
                <a:solidFill>
                  <a:srgbClr val="000000"/>
                </a:solidFill>
                <a:latin typeface="Pretendard Medium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652000" y="8293100"/>
            <a:ext cx="5080000" cy="444500"/>
          </a:xfrm>
          <a:prstGeom prst="rect">
            <a:avLst/>
          </a:prstGeom>
        </p:spPr>
        <p:txBody>
          <a:bodyPr lIns="0" tIns="39976" rIns="0" bIns="39976" rtlCol="0" anchor="ctr"/>
          <a:lstStyle/>
          <a:p>
            <a:pPr lvl="0" algn="ctr">
              <a:lnSpc>
                <a:spcPct val="95449"/>
              </a:lnSpc>
            </a:pPr>
            <a:r>
              <a:rPr lang="en" sz="2518" b="0" i="0" u="none" strike="noStrike" spc="-76">
                <a:solidFill>
                  <a:srgbClr val="000000"/>
                </a:solidFill>
                <a:latin typeface="Pretendard Medium"/>
              </a:rPr>
              <a:t>Kangwon National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1174</Words>
  <Application>Microsoft Office PowerPoint</Application>
  <PresentationFormat>사용자 지정</PresentationFormat>
  <Paragraphs>151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Hallym Gothic Bold</vt:lpstr>
      <vt:lpstr>Calibri</vt:lpstr>
      <vt:lpstr>Pretendard Regular</vt:lpstr>
      <vt:lpstr>Mattone Regular</vt:lpstr>
      <vt:lpstr>Aptos</vt:lpstr>
      <vt:lpstr>Arial</vt:lpstr>
      <vt:lpstr>Pretendard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지성 정</cp:lastModifiedBy>
  <cp:revision>3</cp:revision>
  <dcterms:created xsi:type="dcterms:W3CDTF">2006-08-16T00:00:00Z</dcterms:created>
  <dcterms:modified xsi:type="dcterms:W3CDTF">2025-12-01T00:34:10Z</dcterms:modified>
</cp:coreProperties>
</file>